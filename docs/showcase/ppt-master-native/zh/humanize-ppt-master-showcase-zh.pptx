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  <Relationship Id="rId12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-US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先把“讲什么”固定下来，再决定“长什么样”。Humanize PPT 把受众、叙事和逐页意图变成可检查的 AST；PPT Master 接过这份契约，把它渲染成原生 PowerPoint。中文和英文从同一个结构出发，最后得到的是两份可继续编辑、也可独立验证的演示文稿。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这不是把网页截图塞进 PowerPoint。Humanize PPT 负责内容契约，PPT Master 负责视觉和原生对象，PowerPoint 文件负责把文字、形状、关系、备注和转场保留下来。所谓兼容，不只是文件能打开，而是交付后仍然能改、能拆、能继续工作。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整条链路可以复跑，也可以定位问题。原始材料进入 AST 和逐页契约，再经过三阶段设计确认，导出原生 PPTX，最后回到 Humanize 做演讲体检。哪一层拥有问题，就回到哪一层的源文件修复；不要在已经导出的 OOXML 包里打一次性补丁。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这五页不是五张静态画面。文字和形状可以编辑，流程和关系可以拆解，每页都有 speaker notes，页面带有 Fade 转场，OOXML 包结构也能独立检查。观众拿到的是设计效果，创作者拿到的则是一份仍然能继续工作的文件。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英文支持并不是这个版本才新增的能力，原来的英文路径已经完整。v1.1 真正增加的是 PPT Master 原生交付路径，而且中文和英文都走同一套设计确认、原生导出和 QA 标准。语言只改变文案和字体策略，不改变支持级别。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notesSlide" Target="../notesSlides/notesSlide5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3D1FF">
                  <a:alpha val="18000"/>
                </a:srgbClr>
              </a:gs>
              <a:gs pos="100000">
                <a:srgbClr val="33D1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7C83FD">
                  <a:alpha val="16000"/>
                </a:srgbClr>
              </a:gs>
              <a:gs pos="100000">
                <a:srgbClr val="7C83FD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571500" y="1257300"/>
            <a:ext cx="11049000" cy="4114800"/>
          </a:xfrm>
          <a:custGeom>
            <a:avLst/>
            <a:gdLst/>
            <a:ahLst/>
            <a:cxnLst/>
            <a:rect l="l" t="t" r="r" b="b"/>
            <a:pathLst>
              <a:path w="11049000" h="4114800">
                <a:moveTo>
                  <a:pt x="0" y="0"/>
                </a:moveTo>
                <a:lnTo>
                  <a:pt x="11049000" y="0"/>
                </a:lnTo>
                <a:moveTo>
                  <a:pt x="0" y="1028700"/>
                </a:moveTo>
                <a:lnTo>
                  <a:pt x="11049000" y="1028700"/>
                </a:lnTo>
                <a:moveTo>
                  <a:pt x="0" y="2057400"/>
                </a:moveTo>
                <a:lnTo>
                  <a:pt x="11049000" y="2057400"/>
                </a:lnTo>
                <a:moveTo>
                  <a:pt x="0" y="3086100"/>
                </a:moveTo>
                <a:lnTo>
                  <a:pt x="11049000" y="3086100"/>
                </a:lnTo>
                <a:moveTo>
                  <a:pt x="0" y="4114800"/>
                </a:moveTo>
                <a:lnTo>
                  <a:pt x="11049000" y="4114800"/>
                </a:lnTo>
              </a:path>
            </a:pathLst>
          </a:custGeom>
          <a:noFill/>
          <a:ln w="9525">
            <a:solidFill>
              <a:srgbClr val="17314B"/>
            </a:solidFill>
          </a:ln>
        </p:spPr>
      </p:sp>
      <p:sp>
        <p:nvSpPr>
          <p:cNvPr id="5" name="Freeform 5"/>
          <p:cNvSpPr/>
          <p:nvPr/>
        </p:nvSpPr>
        <p:spPr>
          <a:xfrm>
            <a:off x="1562100" y="457200"/>
            <a:ext cx="8229600" cy="5943600"/>
          </a:xfrm>
          <a:custGeom>
            <a:avLst/>
            <a:gdLst/>
            <a:ahLst/>
            <a:cxnLst/>
            <a:rect l="l" t="t" r="r" b="b"/>
            <a:pathLst>
              <a:path w="8229600" h="5943600">
                <a:moveTo>
                  <a:pt x="0" y="0"/>
                </a:moveTo>
                <a:lnTo>
                  <a:pt x="0" y="5943600"/>
                </a:lnTo>
                <a:moveTo>
                  <a:pt x="2057400" y="0"/>
                </a:moveTo>
                <a:lnTo>
                  <a:pt x="2057400" y="5943600"/>
                </a:lnTo>
                <a:moveTo>
                  <a:pt x="4114800" y="0"/>
                </a:moveTo>
                <a:lnTo>
                  <a:pt x="4114800" y="5943600"/>
                </a:lnTo>
                <a:moveTo>
                  <a:pt x="6172200" y="0"/>
                </a:moveTo>
                <a:lnTo>
                  <a:pt x="6172200" y="5943600"/>
                </a:lnTo>
                <a:moveTo>
                  <a:pt x="8229600" y="0"/>
                </a:moveTo>
                <a:lnTo>
                  <a:pt x="8229600" y="5943600"/>
                </a:lnTo>
              </a:path>
            </a:pathLst>
          </a:custGeom>
          <a:noFill/>
          <a:ln w="9525">
            <a:solidFill>
              <a:srgbClr val="17314B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564642" y="578168"/>
            <a:ext cx="338277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225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HUMANIZE PPT × PPT MASTER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93345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33D1FF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552450" y="1520190"/>
            <a:ext cx="5804581" cy="150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同一个 AST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52450" y="2548890"/>
            <a:ext cx="7610246" cy="150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双语原生 PPTX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95122" y="3692842"/>
            <a:ext cx="7011695" cy="55740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先锁定“讲什么”，再原生渲染“长什么样”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71500" y="4876800"/>
            <a:ext cx="4000500" cy="723900"/>
          </a:xfrm>
          <a:prstGeom prst="roundRect">
            <a:avLst>
              <a:gd name="adj" fmla="val 10526"/>
            </a:avLst>
          </a:prstGeom>
          <a:solidFill>
            <a:srgbClr val="10243B"/>
          </a:solidFill>
          <a:ln w="19050">
            <a:solidFill>
              <a:srgbClr val="23415E"/>
            </a:solidFill>
          </a:ln>
        </p:spPr>
      </p:sp>
      <p:grpSp>
        <p:nvGrpSpPr>
          <p:cNvPr id="14" name="Group 14"/>
          <p:cNvGrpSpPr/>
          <p:nvPr/>
        </p:nvGrpSpPr>
        <p:grpSpPr>
          <a:xfrm>
            <a:off x="833437" y="5081587"/>
            <a:ext cx="314324" cy="314324"/>
            <a:chOff x="833437" y="5081587"/>
            <a:chExt cx="314324" cy="314324"/>
          </a:xfrm>
        </p:grpSpPr>
        <p:sp>
          <p:nvSpPr>
            <p:cNvPr id="12" name="Freeform 12"/>
            <p:cNvSpPr/>
            <p:nvPr/>
          </p:nvSpPr>
          <p:spPr>
            <a:xfrm>
              <a:off x="833437" y="5081587"/>
              <a:ext cx="314324" cy="314324"/>
            </a:xfrm>
            <a:custGeom>
              <a:avLst/>
              <a:gdLst/>
              <a:ahLst/>
              <a:cxnLst/>
              <a:rect l="l" t="t" r="r" b="b"/>
              <a:pathLst>
                <a:path w="314324" h="314324">
                  <a:moveTo>
                    <a:pt x="0" y="157162"/>
                  </a:moveTo>
                  <a:cubicBezTo>
                    <a:pt x="0" y="243961"/>
                    <a:pt x="70364" y="314324"/>
                    <a:pt x="157162" y="314324"/>
                  </a:cubicBezTo>
                  <a:cubicBezTo>
                    <a:pt x="243961" y="314324"/>
                    <a:pt x="314324" y="243961"/>
                    <a:pt x="314324" y="157162"/>
                  </a:cubicBezTo>
                  <a:cubicBezTo>
                    <a:pt x="314324" y="70364"/>
                    <a:pt x="243961" y="0"/>
                    <a:pt x="157162" y="0"/>
                  </a:cubicBezTo>
                  <a:cubicBezTo>
                    <a:pt x="70364" y="0"/>
                    <a:pt x="0" y="70364"/>
                    <a:pt x="0" y="157162"/>
                  </a:cubicBez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938212" y="5203825"/>
              <a:ext cx="104775" cy="69850"/>
            </a:xfrm>
            <a:custGeom>
              <a:avLst/>
              <a:gdLst/>
              <a:ahLst/>
              <a:cxnLst/>
              <a:rect l="l" t="t" r="r" b="b"/>
              <a:pathLst>
                <a:path w="104775" h="69850">
                  <a:moveTo>
                    <a:pt x="0" y="34925"/>
                  </a:moveTo>
                  <a:lnTo>
                    <a:pt x="34925" y="69850"/>
                  </a:lnTo>
                  <a:lnTo>
                    <a:pt x="104775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15" name="TextBox 15"/>
          <p:cNvSpPr txBox="1"/>
          <p:nvPr/>
        </p:nvSpPr>
        <p:spPr>
          <a:xfrm>
            <a:off x="1381506" y="5139690"/>
            <a:ext cx="31477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原生对象 · 可编辑 · 可验证</a:t>
            </a:r>
          </a:p>
        </p:txBody>
      </p:sp>
      <p:sp>
        <p:nvSpPr>
          <p:cNvPr id="16" name="Freeform 16"/>
          <p:cNvSpPr/>
          <p:nvPr/>
        </p:nvSpPr>
        <p:spPr>
          <a:xfrm>
            <a:off x="6705600" y="1943100"/>
            <a:ext cx="4267200" cy="9525"/>
          </a:xfrm>
          <a:custGeom>
            <a:avLst/>
            <a:gdLst/>
            <a:ahLst/>
            <a:cxnLst/>
            <a:rect l="l" t="t" r="r" b="b"/>
            <a:pathLst>
              <a:path w="4267200" h="9525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/>
          <a:ln w="76200" cap="rnd">
            <a:solidFill>
              <a:srgbClr val="33D1FF">
                <a:alpha val="18000"/>
              </a:srgbClr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6705600" y="1943100"/>
            <a:ext cx="4267200" cy="9525"/>
          </a:xfrm>
          <a:custGeom>
            <a:avLst/>
            <a:gdLst/>
            <a:ahLst/>
            <a:cxnLst/>
            <a:rect l="l" t="t" r="r" b="b"/>
            <a:pathLst>
              <a:path w="4267200" h="9525">
                <a:moveTo>
                  <a:pt x="0" y="0"/>
                </a:moveTo>
                <a:lnTo>
                  <a:pt x="4267200" y="0"/>
                </a:lnTo>
              </a:path>
            </a:pathLst>
          </a:custGeom>
          <a:noFill/>
          <a:ln w="19050" cap="rnd">
            <a:solidFill>
              <a:srgbClr val="33D1FF"/>
            </a:solidFill>
          </a:ln>
        </p:spPr>
      </p:sp>
      <p:sp>
        <p:nvSpPr>
          <p:cNvPr id="18" name="Ellipse 18"/>
          <p:cNvSpPr/>
          <p:nvPr/>
        </p:nvSpPr>
        <p:spPr>
          <a:xfrm>
            <a:off x="6477000" y="1485900"/>
            <a:ext cx="914400" cy="914400"/>
          </a:xfrm>
          <a:prstGeom prst="ellipse">
            <a:avLst/>
          </a:prstGeom>
          <a:solidFill>
            <a:srgbClr val="10243B"/>
          </a:solidFill>
          <a:ln w="19050">
            <a:solidFill>
              <a:srgbClr val="33D1FF"/>
            </a:solidFill>
          </a:ln>
        </p:spPr>
      </p:sp>
      <p:grpSp>
        <p:nvGrpSpPr>
          <p:cNvPr id="24" name="Group 24"/>
          <p:cNvGrpSpPr/>
          <p:nvPr/>
        </p:nvGrpSpPr>
        <p:grpSpPr>
          <a:xfrm>
            <a:off x="6800850" y="1771650"/>
            <a:ext cx="266700" cy="342900"/>
            <a:chOff x="6800850" y="1771650"/>
            <a:chExt cx="266700" cy="342900"/>
          </a:xfrm>
        </p:grpSpPr>
        <p:sp>
          <p:nvSpPr>
            <p:cNvPr id="19" name="Freeform 19"/>
            <p:cNvSpPr/>
            <p:nvPr/>
          </p:nvSpPr>
          <p:spPr>
            <a:xfrm>
              <a:off x="6972300" y="1771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0" y="0"/>
                  </a:moveTo>
                  <a:lnTo>
                    <a:pt x="0" y="76200"/>
                  </a:lnTo>
                  <a:cubicBezTo>
                    <a:pt x="0" y="86721"/>
                    <a:pt x="8529" y="95250"/>
                    <a:pt x="19050" y="95250"/>
                  </a:cubicBezTo>
                  <a:lnTo>
                    <a:pt x="95250" y="9525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800850" y="1771650"/>
              <a:ext cx="266700" cy="342900"/>
            </a:xfrm>
            <a:custGeom>
              <a:avLst/>
              <a:gdLst/>
              <a:ahLst/>
              <a:cxnLst/>
              <a:rect l="l" t="t" r="r" b="b"/>
              <a:pathLst>
                <a:path w="266700" h="342900">
                  <a:moveTo>
                    <a:pt x="228600" y="342900"/>
                  </a:moveTo>
                  <a:lnTo>
                    <a:pt x="38100" y="342900"/>
                  </a:lnTo>
                  <a:cubicBezTo>
                    <a:pt x="17058" y="342900"/>
                    <a:pt x="0" y="325842"/>
                    <a:pt x="0" y="3048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lnTo>
                    <a:pt x="171450" y="0"/>
                  </a:lnTo>
                  <a:lnTo>
                    <a:pt x="266700" y="95250"/>
                  </a:lnTo>
                  <a:lnTo>
                    <a:pt x="266700" y="304800"/>
                  </a:lnTo>
                  <a:cubicBezTo>
                    <a:pt x="266700" y="325842"/>
                    <a:pt x="249642" y="342900"/>
                    <a:pt x="228600" y="342900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6877050" y="1885950"/>
              <a:ext cx="19050" cy="9525"/>
            </a:xfrm>
            <a:custGeom>
              <a:avLst/>
              <a:gdLst/>
              <a:ahLst/>
              <a:cxnLst/>
              <a:rect l="l" t="t" r="r" b="b"/>
              <a:pathLst>
                <a:path w="19050" h="9525">
                  <a:moveTo>
                    <a:pt x="0" y="0"/>
                  </a:moveTo>
                  <a:lnTo>
                    <a:pt x="19050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6877050" y="19621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6877050" y="203835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25" name="Ellipse 25"/>
          <p:cNvSpPr/>
          <p:nvPr/>
        </p:nvSpPr>
        <p:spPr>
          <a:xfrm>
            <a:off x="8382000" y="1485900"/>
            <a:ext cx="914400" cy="914400"/>
          </a:xfrm>
          <a:prstGeom prst="ellipse">
            <a:avLst/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grpSp>
        <p:nvGrpSpPr>
          <p:cNvPr id="28" name="Group 28"/>
          <p:cNvGrpSpPr/>
          <p:nvPr/>
        </p:nvGrpSpPr>
        <p:grpSpPr>
          <a:xfrm>
            <a:off x="8667750" y="1790700"/>
            <a:ext cx="342900" cy="304800"/>
            <a:chOff x="8667750" y="1790700"/>
            <a:chExt cx="342900" cy="304800"/>
          </a:xfrm>
        </p:grpSpPr>
        <p:sp>
          <p:nvSpPr>
            <p:cNvPr id="26" name="Freeform 26"/>
            <p:cNvSpPr/>
            <p:nvPr/>
          </p:nvSpPr>
          <p:spPr>
            <a:xfrm>
              <a:off x="8667750" y="1790700"/>
              <a:ext cx="76200" cy="304800"/>
            </a:xfrm>
            <a:custGeom>
              <a:avLst/>
              <a:gdLst/>
              <a:ahLst/>
              <a:cxnLst/>
              <a:rect l="l" t="t" r="r" b="b"/>
              <a:pathLst>
                <a:path w="76200" h="304800">
                  <a:moveTo>
                    <a:pt x="76200" y="0"/>
                  </a:moveTo>
                  <a:cubicBezTo>
                    <a:pt x="55158" y="0"/>
                    <a:pt x="38100" y="17058"/>
                    <a:pt x="38100" y="38100"/>
                  </a:cubicBezTo>
                  <a:lnTo>
                    <a:pt x="38100" y="95250"/>
                  </a:lnTo>
                  <a:cubicBezTo>
                    <a:pt x="38100" y="126813"/>
                    <a:pt x="21042" y="152400"/>
                    <a:pt x="0" y="152400"/>
                  </a:cubicBezTo>
                  <a:cubicBezTo>
                    <a:pt x="21042" y="152400"/>
                    <a:pt x="38100" y="177987"/>
                    <a:pt x="38100" y="209550"/>
                  </a:cubicBezTo>
                  <a:lnTo>
                    <a:pt x="38100" y="266700"/>
                  </a:lnTo>
                  <a:cubicBezTo>
                    <a:pt x="38100" y="287742"/>
                    <a:pt x="55158" y="304800"/>
                    <a:pt x="76200" y="304800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8934450" y="1790700"/>
              <a:ext cx="76200" cy="304800"/>
            </a:xfrm>
            <a:custGeom>
              <a:avLst/>
              <a:gdLst/>
              <a:ahLst/>
              <a:cxnLst/>
              <a:rect l="l" t="t" r="r" b="b"/>
              <a:pathLst>
                <a:path w="76200" h="304800">
                  <a:moveTo>
                    <a:pt x="0" y="0"/>
                  </a:moveTo>
                  <a:cubicBezTo>
                    <a:pt x="21042" y="0"/>
                    <a:pt x="38100" y="17058"/>
                    <a:pt x="38100" y="38100"/>
                  </a:cubicBezTo>
                  <a:lnTo>
                    <a:pt x="38100" y="95250"/>
                  </a:lnTo>
                  <a:cubicBezTo>
                    <a:pt x="38100" y="126813"/>
                    <a:pt x="55158" y="152400"/>
                    <a:pt x="76200" y="152400"/>
                  </a:cubicBezTo>
                  <a:cubicBezTo>
                    <a:pt x="55158" y="152400"/>
                    <a:pt x="38100" y="177987"/>
                    <a:pt x="38100" y="209550"/>
                  </a:cubicBezTo>
                  <a:lnTo>
                    <a:pt x="38100" y="266700"/>
                  </a:lnTo>
                  <a:cubicBezTo>
                    <a:pt x="38100" y="287742"/>
                    <a:pt x="21042" y="304800"/>
                    <a:pt x="0" y="304800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29" name="Ellipse 29"/>
          <p:cNvSpPr/>
          <p:nvPr/>
        </p:nvSpPr>
        <p:spPr>
          <a:xfrm>
            <a:off x="10287000" y="1485900"/>
            <a:ext cx="914400" cy="914400"/>
          </a:xfrm>
          <a:prstGeom prst="ellipse">
            <a:avLst/>
          </a:prstGeom>
          <a:solidFill>
            <a:srgbClr val="10243B"/>
          </a:solidFill>
          <a:ln w="19050">
            <a:solidFill>
              <a:srgbClr val="FFB347"/>
            </a:solidFill>
          </a:ln>
        </p:spPr>
      </p:sp>
      <p:grpSp>
        <p:nvGrpSpPr>
          <p:cNvPr id="35" name="Group 35"/>
          <p:cNvGrpSpPr/>
          <p:nvPr/>
        </p:nvGrpSpPr>
        <p:grpSpPr>
          <a:xfrm>
            <a:off x="10572750" y="1790700"/>
            <a:ext cx="342900" cy="314325"/>
            <a:chOff x="10572750" y="1790700"/>
            <a:chExt cx="342900" cy="314325"/>
          </a:xfrm>
        </p:grpSpPr>
        <p:sp>
          <p:nvSpPr>
            <p:cNvPr id="30" name="Freeform 30"/>
            <p:cNvSpPr/>
            <p:nvPr/>
          </p:nvSpPr>
          <p:spPr>
            <a:xfrm>
              <a:off x="10572750" y="1790700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591800" y="1790700"/>
              <a:ext cx="304800" cy="228600"/>
            </a:xfrm>
            <a:custGeom>
              <a:avLst/>
              <a:gdLst/>
              <a:ahLst/>
              <a:cxnLst/>
              <a:rect l="l" t="t" r="r" b="b"/>
              <a:pathLst>
                <a:path w="304800" h="228600">
                  <a:moveTo>
                    <a:pt x="0" y="0"/>
                  </a:moveTo>
                  <a:lnTo>
                    <a:pt x="0" y="190500"/>
                  </a:lnTo>
                  <a:cubicBezTo>
                    <a:pt x="0" y="211542"/>
                    <a:pt x="17058" y="228600"/>
                    <a:pt x="38100" y="228600"/>
                  </a:cubicBezTo>
                  <a:lnTo>
                    <a:pt x="266700" y="228600"/>
                  </a:lnTo>
                  <a:cubicBezTo>
                    <a:pt x="287742" y="228600"/>
                    <a:pt x="304800" y="211542"/>
                    <a:pt x="304800" y="190500"/>
                  </a:cubicBezTo>
                  <a:lnTo>
                    <a:pt x="3048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0744200" y="2019300"/>
              <a:ext cx="9525" cy="76200"/>
            </a:xfrm>
            <a:custGeom>
              <a:avLst/>
              <a:gdLst/>
              <a:ahLst/>
              <a:cxnLst/>
              <a:rect l="l" t="t" r="r" b="b"/>
              <a:pathLst>
                <a:path w="9525" h="76200">
                  <a:moveTo>
                    <a:pt x="0" y="0"/>
                  </a:moveTo>
                  <a:lnTo>
                    <a:pt x="0" y="7620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10687050" y="2095500"/>
              <a:ext cx="114300" cy="9525"/>
            </a:xfrm>
            <a:custGeom>
              <a:avLst/>
              <a:gdLst/>
              <a:ahLst/>
              <a:cxnLst/>
              <a:rect l="l" t="t" r="r" b="b"/>
              <a:pathLst>
                <a:path w="114300" h="9525">
                  <a:moveTo>
                    <a:pt x="0" y="0"/>
                  </a:move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668000" y="1866900"/>
              <a:ext cx="152400" cy="76200"/>
            </a:xfrm>
            <a:custGeom>
              <a:avLst/>
              <a:gdLst/>
              <a:ahLst/>
              <a:cxnLst/>
              <a:rect l="l" t="t" r="r" b="b"/>
              <a:pathLst>
                <a:path w="152400" h="76200">
                  <a:moveTo>
                    <a:pt x="0" y="76200"/>
                  </a:moveTo>
                  <a:lnTo>
                    <a:pt x="57150" y="19050"/>
                  </a:lnTo>
                  <a:lnTo>
                    <a:pt x="95250" y="57150"/>
                  </a:lnTo>
                  <a:lnTo>
                    <a:pt x="1524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36" name="TextBox 36"/>
          <p:cNvSpPr txBox="1"/>
          <p:nvPr/>
        </p:nvSpPr>
        <p:spPr>
          <a:xfrm>
            <a:off x="6871895" y="2578418"/>
            <a:ext cx="12461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776895" y="2578418"/>
            <a:ext cx="12461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A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0681895" y="2578418"/>
            <a:ext cx="12461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P</a:t>
            </a:r>
          </a:p>
        </p:txBody>
      </p:sp>
      <p:sp>
        <p:nvSpPr>
          <p:cNvPr id="39" name="Freeform 39"/>
          <p:cNvSpPr/>
          <p:nvPr/>
        </p:nvSpPr>
        <p:spPr>
          <a:xfrm>
            <a:off x="7848600" y="2400300"/>
            <a:ext cx="1981200" cy="1200150"/>
          </a:xfrm>
          <a:custGeom>
            <a:avLst/>
            <a:gdLst/>
            <a:ahLst/>
            <a:cxnLst/>
            <a:rect l="l" t="t" r="r" b="b"/>
            <a:pathLst>
              <a:path w="1981200" h="1200150">
                <a:moveTo>
                  <a:pt x="990600" y="0"/>
                </a:moveTo>
                <a:lnTo>
                  <a:pt x="990600" y="1200150"/>
                </a:lnTo>
                <a:moveTo>
                  <a:pt x="990600" y="1200150"/>
                </a:moveTo>
                <a:lnTo>
                  <a:pt x="0" y="1200150"/>
                </a:lnTo>
                <a:moveTo>
                  <a:pt x="990600" y="1200150"/>
                </a:moveTo>
                <a:lnTo>
                  <a:pt x="1981200" y="1200150"/>
                </a:lnTo>
              </a:path>
            </a:pathLst>
          </a:custGeom>
          <a:noFill/>
          <a:ln w="19050">
            <a:solidFill>
              <a:srgbClr val="7C83FD"/>
            </a:solidFill>
          </a:ln>
        </p:spPr>
      </p:sp>
      <p:sp>
        <p:nvSpPr>
          <p:cNvPr id="40" name="Rectangle 40"/>
          <p:cNvSpPr/>
          <p:nvPr/>
        </p:nvSpPr>
        <p:spPr>
          <a:xfrm>
            <a:off x="7029450" y="3600450"/>
            <a:ext cx="1638300" cy="685800"/>
          </a:xfrm>
          <a:prstGeom prst="roundRect">
            <a:avLst>
              <a:gd name="adj" fmla="val 11111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sp>
        <p:nvSpPr>
          <p:cNvPr id="41" name="Rectangle 41"/>
          <p:cNvSpPr/>
          <p:nvPr/>
        </p:nvSpPr>
        <p:spPr>
          <a:xfrm>
            <a:off x="9010650" y="3600450"/>
            <a:ext cx="1638300" cy="685800"/>
          </a:xfrm>
          <a:prstGeom prst="roundRect">
            <a:avLst>
              <a:gd name="adj" fmla="val 11111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7712240" y="3834765"/>
            <a:ext cx="27272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712048" y="3883342"/>
            <a:ext cx="23550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EAF2FF"/>
                </a:solidFill>
                <a:latin typeface="Arial"/>
                <a:ea typeface="Arial"/>
                <a:cs typeface="Arial"/>
              </a:rPr>
              <a:t>EN</a:t>
            </a:r>
          </a:p>
        </p:txBody>
      </p:sp>
      <p:sp>
        <p:nvSpPr>
          <p:cNvPr id="44" name="Freeform 44"/>
          <p:cNvSpPr/>
          <p:nvPr/>
        </p:nvSpPr>
        <p:spPr>
          <a:xfrm>
            <a:off x="7848600" y="2400300"/>
            <a:ext cx="2895600" cy="2438400"/>
          </a:xfrm>
          <a:custGeom>
            <a:avLst/>
            <a:gdLst/>
            <a:ahLst/>
            <a:cxnLst/>
            <a:rect l="l" t="t" r="r" b="b"/>
            <a:pathLst>
              <a:path w="2895600" h="2438400">
                <a:moveTo>
                  <a:pt x="0" y="1885950"/>
                </a:moveTo>
                <a:lnTo>
                  <a:pt x="0" y="2438400"/>
                </a:lnTo>
                <a:lnTo>
                  <a:pt x="2895600" y="2438400"/>
                </a:lnTo>
                <a:lnTo>
                  <a:pt x="2895600" y="0"/>
                </a:lnTo>
              </a:path>
            </a:pathLst>
          </a:custGeom>
          <a:noFill/>
          <a:ln w="19050">
            <a:solidFill>
              <a:srgbClr val="23415E"/>
            </a:solidFill>
            <a:custDash>
              <a:ds d="400000" sp="400000"/>
            </a:custDash>
          </a:ln>
        </p:spPr>
      </p:sp>
      <p:sp>
        <p:nvSpPr>
          <p:cNvPr id="45" name="Freeform 45"/>
          <p:cNvSpPr/>
          <p:nvPr/>
        </p:nvSpPr>
        <p:spPr>
          <a:xfrm>
            <a:off x="9829800" y="4286250"/>
            <a:ext cx="9525" cy="552450"/>
          </a:xfrm>
          <a:custGeom>
            <a:avLst/>
            <a:gdLst/>
            <a:ahLst/>
            <a:cxnLst/>
            <a:rect l="l" t="t" r="r" b="b"/>
            <a:pathLst>
              <a:path w="9525" h="552450">
                <a:moveTo>
                  <a:pt x="0" y="0"/>
                </a:moveTo>
                <a:lnTo>
                  <a:pt x="0" y="552450"/>
                </a:lnTo>
              </a:path>
            </a:pathLst>
          </a:custGeom>
          <a:noFill/>
          <a:ln w="19050">
            <a:solidFill>
              <a:srgbClr val="23415E"/>
            </a:solidFill>
            <a:custDash>
              <a:ds d="400000" sp="400000"/>
            </a:custDash>
          </a:ln>
        </p:spPr>
      </p:sp>
      <p:sp>
        <p:nvSpPr>
          <p:cNvPr id="46" name="TextBox 46"/>
          <p:cNvSpPr txBox="1"/>
          <p:nvPr/>
        </p:nvSpPr>
        <p:spPr>
          <a:xfrm>
            <a:off x="8320545" y="5063490"/>
            <a:ext cx="179931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33D1FF"/>
                </a:solidFill>
                <a:latin typeface="Arial"/>
                <a:ea typeface="Microsoft YaHei"/>
                <a:cs typeface="Arial"/>
              </a:rPr>
              <a:t>同一条正式路径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64642" y="6331268"/>
            <a:ext cx="65297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01 / 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7C83FD">
                  <a:alpha val="14000"/>
                </a:srgbClr>
              </a:gs>
              <a:gs pos="100000">
                <a:srgbClr val="7C83FD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" y="12192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19050">
            <a:solidFill>
              <a:srgbClr val="23415E"/>
            </a:solidFill>
          </a:ln>
        </p:spPr>
      </p:sp>
      <p:sp>
        <p:nvSpPr>
          <p:cNvPr id="4" name="TextBox 4"/>
          <p:cNvSpPr txBox="1"/>
          <p:nvPr/>
        </p:nvSpPr>
        <p:spPr>
          <a:xfrm>
            <a:off x="564642" y="482918"/>
            <a:ext cx="218566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225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OWNERSHIP MODEL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52450" y="613410"/>
            <a:ext cx="7693137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不是把网页塞进 PowerPoint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974382" y="521018"/>
            <a:ext cx="65297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02 / 05</a:t>
            </a:r>
          </a:p>
        </p:txBody>
      </p:sp>
      <p:sp>
        <p:nvSpPr>
          <p:cNvPr id="7" name="Rectangle 7"/>
          <p:cNvSpPr/>
          <p:nvPr/>
        </p:nvSpPr>
        <p:spPr>
          <a:xfrm>
            <a:off x="571500" y="1562100"/>
            <a:ext cx="3429000" cy="3276600"/>
          </a:xfrm>
          <a:prstGeom prst="roundRect">
            <a:avLst>
              <a:gd name="adj" fmla="val 2326"/>
            </a:avLst>
          </a:prstGeom>
          <a:solidFill>
            <a:srgbClr val="10243B"/>
          </a:solidFill>
          <a:ln w="19050">
            <a:solidFill>
              <a:srgbClr val="33D1FF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571500" y="1562100"/>
            <a:ext cx="76200" cy="3276600"/>
          </a:xfrm>
          <a:prstGeom prst="roundRect">
            <a:avLst>
              <a:gd name="adj" fmla="val 50000"/>
            </a:avLst>
          </a:prstGeom>
          <a:solidFill>
            <a:srgbClr val="33D1FF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938213" y="1949450"/>
            <a:ext cx="371475" cy="330201"/>
            <a:chOff x="938213" y="1949450"/>
            <a:chExt cx="371475" cy="330201"/>
          </a:xfrm>
        </p:grpSpPr>
        <p:sp>
          <p:nvSpPr>
            <p:cNvPr id="9" name="Freeform 9"/>
            <p:cNvSpPr/>
            <p:nvPr/>
          </p:nvSpPr>
          <p:spPr>
            <a:xfrm>
              <a:off x="938213" y="1949450"/>
              <a:ext cx="82550" cy="330201"/>
            </a:xfrm>
            <a:custGeom>
              <a:avLst/>
              <a:gdLst/>
              <a:ahLst/>
              <a:cxnLst/>
              <a:rect l="l" t="t" r="r" b="b"/>
              <a:pathLst>
                <a:path w="82550" h="330201">
                  <a:moveTo>
                    <a:pt x="82550" y="0"/>
                  </a:moveTo>
                  <a:cubicBezTo>
                    <a:pt x="59755" y="0"/>
                    <a:pt x="41275" y="18479"/>
                    <a:pt x="41275" y="41275"/>
                  </a:cubicBezTo>
                  <a:lnTo>
                    <a:pt x="41275" y="103188"/>
                  </a:lnTo>
                  <a:cubicBezTo>
                    <a:pt x="41275" y="137381"/>
                    <a:pt x="22796" y="165100"/>
                    <a:pt x="0" y="165100"/>
                  </a:cubicBezTo>
                  <a:cubicBezTo>
                    <a:pt x="22796" y="165100"/>
                    <a:pt x="41275" y="192819"/>
                    <a:pt x="41275" y="227013"/>
                  </a:cubicBezTo>
                  <a:lnTo>
                    <a:pt x="41275" y="288925"/>
                  </a:lnTo>
                  <a:cubicBezTo>
                    <a:pt x="41275" y="311721"/>
                    <a:pt x="59755" y="330201"/>
                    <a:pt x="82550" y="330201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227138" y="1949450"/>
              <a:ext cx="82550" cy="330201"/>
            </a:xfrm>
            <a:custGeom>
              <a:avLst/>
              <a:gdLst/>
              <a:ahLst/>
              <a:cxnLst/>
              <a:rect l="l" t="t" r="r" b="b"/>
              <a:pathLst>
                <a:path w="82550" h="330201">
                  <a:moveTo>
                    <a:pt x="0" y="0"/>
                  </a:moveTo>
                  <a:cubicBezTo>
                    <a:pt x="22796" y="0"/>
                    <a:pt x="41275" y="18479"/>
                    <a:pt x="41275" y="41275"/>
                  </a:cubicBezTo>
                  <a:lnTo>
                    <a:pt x="41275" y="103188"/>
                  </a:lnTo>
                  <a:cubicBezTo>
                    <a:pt x="41275" y="137381"/>
                    <a:pt x="59755" y="165100"/>
                    <a:pt x="82550" y="165100"/>
                  </a:cubicBezTo>
                  <a:cubicBezTo>
                    <a:pt x="59755" y="165100"/>
                    <a:pt x="41275" y="192819"/>
                    <a:pt x="41275" y="227013"/>
                  </a:cubicBezTo>
                  <a:lnTo>
                    <a:pt x="41275" y="288925"/>
                  </a:lnTo>
                  <a:cubicBezTo>
                    <a:pt x="41275" y="311721"/>
                    <a:pt x="22796" y="330201"/>
                    <a:pt x="0" y="330201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12" name="TextBox 12"/>
          <p:cNvSpPr txBox="1"/>
          <p:nvPr/>
        </p:nvSpPr>
        <p:spPr>
          <a:xfrm>
            <a:off x="862584" y="2413635"/>
            <a:ext cx="2481302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700" b="1" dirty="0">
                <a:solidFill>
                  <a:srgbClr val="EAF2FF"/>
                </a:solidFill>
                <a:latin typeface="Arial"/>
                <a:ea typeface="Arial"/>
                <a:cs typeface="Arial"/>
              </a:rPr>
              <a:t>Humanize PPT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9442" y="2978468"/>
            <a:ext cx="213830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150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CONTENT CONTRACT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67156" y="3406140"/>
            <a:ext cx="1229868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受众与叙事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67156" y="3787140"/>
            <a:ext cx="21991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逐页意图与演讲备注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69442" y="4369118"/>
            <a:ext cx="21127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7890AA"/>
                </a:solidFill>
                <a:latin typeface="Arial"/>
                <a:ea typeface="Microsoft YaHei"/>
                <a:cs typeface="Arial"/>
              </a:rPr>
              <a:t>回答：每一页为什么存在</a:t>
            </a:r>
          </a:p>
        </p:txBody>
      </p:sp>
      <p:sp>
        <p:nvSpPr>
          <p:cNvPr id="17" name="Rectangle 17"/>
          <p:cNvSpPr/>
          <p:nvPr/>
        </p:nvSpPr>
        <p:spPr>
          <a:xfrm>
            <a:off x="4381500" y="1562100"/>
            <a:ext cx="3429000" cy="3276600"/>
          </a:xfrm>
          <a:prstGeom prst="roundRect">
            <a:avLst>
              <a:gd name="adj" fmla="val 2326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sp>
        <p:nvSpPr>
          <p:cNvPr id="18" name="Rectangle 18"/>
          <p:cNvSpPr/>
          <p:nvPr/>
        </p:nvSpPr>
        <p:spPr>
          <a:xfrm>
            <a:off x="4381500" y="1562100"/>
            <a:ext cx="76200" cy="3276600"/>
          </a:xfrm>
          <a:prstGeom prst="roundRect">
            <a:avLst>
              <a:gd name="adj" fmla="val 50000"/>
            </a:avLst>
          </a:prstGeom>
          <a:solidFill>
            <a:srgbClr val="7C83FD"/>
          </a:solidFill>
          <a:ln>
            <a:noFill/>
          </a:ln>
        </p:spPr>
      </p:sp>
      <p:grpSp>
        <p:nvGrpSpPr>
          <p:cNvPr id="24" name="Group 24"/>
          <p:cNvGrpSpPr/>
          <p:nvPr/>
        </p:nvGrpSpPr>
        <p:grpSpPr>
          <a:xfrm>
            <a:off x="4748213" y="1928813"/>
            <a:ext cx="371475" cy="371475"/>
            <a:chOff x="4748213" y="1928813"/>
            <a:chExt cx="371475" cy="371475"/>
          </a:xfrm>
        </p:grpSpPr>
        <p:sp>
          <p:nvSpPr>
            <p:cNvPr id="19" name="Freeform 19"/>
            <p:cNvSpPr/>
            <p:nvPr/>
          </p:nvSpPr>
          <p:spPr>
            <a:xfrm>
              <a:off x="4892675" y="1928813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82550" h="82550">
                  <a:moveTo>
                    <a:pt x="0" y="41275"/>
                  </a:moveTo>
                  <a:cubicBezTo>
                    <a:pt x="0" y="64071"/>
                    <a:pt x="18479" y="82550"/>
                    <a:pt x="41275" y="82550"/>
                  </a:cubicBezTo>
                  <a:cubicBezTo>
                    <a:pt x="64071" y="82550"/>
                    <a:pt x="82550" y="64071"/>
                    <a:pt x="82550" y="41275"/>
                  </a:cubicBezTo>
                  <a:cubicBezTo>
                    <a:pt x="82550" y="18479"/>
                    <a:pt x="64071" y="0"/>
                    <a:pt x="41275" y="0"/>
                  </a:cubicBezTo>
                  <a:cubicBezTo>
                    <a:pt x="18479" y="0"/>
                    <a:pt x="0" y="18479"/>
                    <a:pt x="0" y="41275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748213" y="2217738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82550" h="82550">
                  <a:moveTo>
                    <a:pt x="0" y="41275"/>
                  </a:moveTo>
                  <a:cubicBezTo>
                    <a:pt x="0" y="64071"/>
                    <a:pt x="18479" y="82550"/>
                    <a:pt x="41275" y="82550"/>
                  </a:cubicBezTo>
                  <a:cubicBezTo>
                    <a:pt x="64071" y="82550"/>
                    <a:pt x="82550" y="64071"/>
                    <a:pt x="82550" y="41275"/>
                  </a:cubicBezTo>
                  <a:cubicBezTo>
                    <a:pt x="82550" y="18479"/>
                    <a:pt x="64071" y="0"/>
                    <a:pt x="41275" y="0"/>
                  </a:cubicBezTo>
                  <a:cubicBezTo>
                    <a:pt x="18479" y="0"/>
                    <a:pt x="0" y="18479"/>
                    <a:pt x="0" y="41275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037138" y="2217738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82550" h="82550">
                  <a:moveTo>
                    <a:pt x="0" y="41275"/>
                  </a:moveTo>
                  <a:cubicBezTo>
                    <a:pt x="0" y="64071"/>
                    <a:pt x="18479" y="82550"/>
                    <a:pt x="41275" y="82550"/>
                  </a:cubicBezTo>
                  <a:cubicBezTo>
                    <a:pt x="64071" y="82550"/>
                    <a:pt x="82550" y="64071"/>
                    <a:pt x="82550" y="41275"/>
                  </a:cubicBezTo>
                  <a:cubicBezTo>
                    <a:pt x="82550" y="18479"/>
                    <a:pt x="64071" y="0"/>
                    <a:pt x="41275" y="0"/>
                  </a:cubicBezTo>
                  <a:cubicBezTo>
                    <a:pt x="18479" y="0"/>
                    <a:pt x="0" y="18479"/>
                    <a:pt x="0" y="41275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4820444" y="2135188"/>
              <a:ext cx="227013" cy="92869"/>
            </a:xfrm>
            <a:custGeom>
              <a:avLst/>
              <a:gdLst/>
              <a:ahLst/>
              <a:cxnLst/>
              <a:rect l="l" t="t" r="r" b="b"/>
              <a:pathLst>
                <a:path w="227013" h="92869">
                  <a:moveTo>
                    <a:pt x="0" y="92869"/>
                  </a:moveTo>
                  <a:lnTo>
                    <a:pt x="113506" y="0"/>
                  </a:lnTo>
                  <a:lnTo>
                    <a:pt x="227013" y="92869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933950" y="2011363"/>
              <a:ext cx="9525" cy="123825"/>
            </a:xfrm>
            <a:custGeom>
              <a:avLst/>
              <a:gdLst/>
              <a:ahLst/>
              <a:cxnLst/>
              <a:rect l="l" t="t" r="r" b="b"/>
              <a:pathLst>
                <a:path w="9525" h="123825">
                  <a:moveTo>
                    <a:pt x="0" y="0"/>
                  </a:moveTo>
                  <a:lnTo>
                    <a:pt x="0" y="123825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25" name="TextBox 25"/>
          <p:cNvSpPr txBox="1"/>
          <p:nvPr/>
        </p:nvSpPr>
        <p:spPr>
          <a:xfrm>
            <a:off x="4672584" y="2413635"/>
            <a:ext cx="2159739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700" b="1" dirty="0">
                <a:solidFill>
                  <a:srgbClr val="EAF2FF"/>
                </a:solidFill>
                <a:latin typeface="Arial"/>
                <a:ea typeface="Arial"/>
                <a:cs typeface="Arial"/>
              </a:rPr>
              <a:t>PPT Master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679442" y="2978468"/>
            <a:ext cx="18750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150" dirty="0">
                <a:solidFill>
                  <a:srgbClr val="7C83FD"/>
                </a:solidFill>
                <a:latin typeface="Consolas"/>
                <a:ea typeface="Consolas"/>
                <a:cs typeface="Consolas"/>
              </a:rPr>
              <a:t>NATIVE RENDERER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77156" y="3406140"/>
            <a:ext cx="230977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视觉系统与逐页 SVG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677156" y="3787140"/>
            <a:ext cx="258592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DrawingML 与原生导出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79442" y="4369118"/>
            <a:ext cx="211277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7890AA"/>
                </a:solidFill>
                <a:latin typeface="Arial"/>
                <a:ea typeface="Microsoft YaHei"/>
                <a:cs typeface="Arial"/>
              </a:rPr>
              <a:t>回答：页面如何成为对象</a:t>
            </a:r>
          </a:p>
        </p:txBody>
      </p:sp>
      <p:sp>
        <p:nvSpPr>
          <p:cNvPr id="30" name="Rectangle 30"/>
          <p:cNvSpPr/>
          <p:nvPr/>
        </p:nvSpPr>
        <p:spPr>
          <a:xfrm>
            <a:off x="8191500" y="1562100"/>
            <a:ext cx="3429000" cy="3276600"/>
          </a:xfrm>
          <a:prstGeom prst="roundRect">
            <a:avLst>
              <a:gd name="adj" fmla="val 2326"/>
            </a:avLst>
          </a:prstGeom>
          <a:solidFill>
            <a:srgbClr val="10243B"/>
          </a:solidFill>
          <a:ln w="19050">
            <a:solidFill>
              <a:srgbClr val="FFB347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8191500" y="1562100"/>
            <a:ext cx="76200" cy="3276600"/>
          </a:xfrm>
          <a:prstGeom prst="roundRect">
            <a:avLst>
              <a:gd name="adj" fmla="val 50000"/>
            </a:avLst>
          </a:prstGeom>
          <a:solidFill>
            <a:srgbClr val="FFB347"/>
          </a:solidFill>
          <a:ln>
            <a:noFill/>
          </a:ln>
        </p:spPr>
      </p:sp>
      <p:grpSp>
        <p:nvGrpSpPr>
          <p:cNvPr id="37" name="Group 37"/>
          <p:cNvGrpSpPr/>
          <p:nvPr/>
        </p:nvGrpSpPr>
        <p:grpSpPr>
          <a:xfrm>
            <a:off x="8558213" y="1949450"/>
            <a:ext cx="371476" cy="339726"/>
            <a:chOff x="8558213" y="1949450"/>
            <a:chExt cx="371476" cy="339726"/>
          </a:xfrm>
        </p:grpSpPr>
        <p:sp>
          <p:nvSpPr>
            <p:cNvPr id="32" name="Freeform 32"/>
            <p:cNvSpPr/>
            <p:nvPr/>
          </p:nvSpPr>
          <p:spPr>
            <a:xfrm>
              <a:off x="8558213" y="1949450"/>
              <a:ext cx="371476" cy="9525"/>
            </a:xfrm>
            <a:custGeom>
              <a:avLst/>
              <a:gdLst/>
              <a:ahLst/>
              <a:cxnLst/>
              <a:rect l="l" t="t" r="r" b="b"/>
              <a:pathLst>
                <a:path w="371476" h="9525">
                  <a:moveTo>
                    <a:pt x="0" y="0"/>
                  </a:moveTo>
                  <a:lnTo>
                    <a:pt x="371476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578850" y="1949450"/>
              <a:ext cx="330201" cy="247650"/>
            </a:xfrm>
            <a:custGeom>
              <a:avLst/>
              <a:gdLst/>
              <a:ahLst/>
              <a:cxnLst/>
              <a:rect l="l" t="t" r="r" b="b"/>
              <a:pathLst>
                <a:path w="330201" h="247650">
                  <a:moveTo>
                    <a:pt x="0" y="0"/>
                  </a:moveTo>
                  <a:lnTo>
                    <a:pt x="0" y="206375"/>
                  </a:lnTo>
                  <a:cubicBezTo>
                    <a:pt x="0" y="229171"/>
                    <a:pt x="18479" y="247650"/>
                    <a:pt x="41275" y="247650"/>
                  </a:cubicBezTo>
                  <a:lnTo>
                    <a:pt x="288925" y="247650"/>
                  </a:lnTo>
                  <a:cubicBezTo>
                    <a:pt x="311721" y="247650"/>
                    <a:pt x="330201" y="229171"/>
                    <a:pt x="330201" y="206375"/>
                  </a:cubicBezTo>
                  <a:lnTo>
                    <a:pt x="330201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8743950" y="2197101"/>
              <a:ext cx="9525" cy="82550"/>
            </a:xfrm>
            <a:custGeom>
              <a:avLst/>
              <a:gdLst/>
              <a:ahLst/>
              <a:cxnLst/>
              <a:rect l="l" t="t" r="r" b="b"/>
              <a:pathLst>
                <a:path w="9525" h="82550">
                  <a:moveTo>
                    <a:pt x="0" y="0"/>
                  </a:moveTo>
                  <a:lnTo>
                    <a:pt x="0" y="8255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682038" y="2279651"/>
              <a:ext cx="123825" cy="9525"/>
            </a:xfrm>
            <a:custGeom>
              <a:avLst/>
              <a:gdLst/>
              <a:ahLst/>
              <a:cxnLst/>
              <a:rect l="l" t="t" r="r" b="b"/>
              <a:pathLst>
                <a:path w="123825" h="952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8661400" y="2032000"/>
              <a:ext cx="165100" cy="82550"/>
            </a:xfrm>
            <a:custGeom>
              <a:avLst/>
              <a:gdLst/>
              <a:ahLst/>
              <a:cxnLst/>
              <a:rect l="l" t="t" r="r" b="b"/>
              <a:pathLst>
                <a:path w="165100" h="82550">
                  <a:moveTo>
                    <a:pt x="0" y="82550"/>
                  </a:moveTo>
                  <a:lnTo>
                    <a:pt x="61913" y="20638"/>
                  </a:lnTo>
                  <a:lnTo>
                    <a:pt x="103188" y="61913"/>
                  </a:lnTo>
                  <a:lnTo>
                    <a:pt x="1651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38" name="TextBox 38"/>
          <p:cNvSpPr txBox="1"/>
          <p:nvPr/>
        </p:nvSpPr>
        <p:spPr>
          <a:xfrm>
            <a:off x="8482584" y="2413635"/>
            <a:ext cx="2130959" cy="52806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700" b="1" dirty="0">
                <a:solidFill>
                  <a:srgbClr val="EAF2FF"/>
                </a:solidFill>
                <a:latin typeface="Arial"/>
                <a:ea typeface="Arial"/>
                <a:cs typeface="Arial"/>
              </a:rPr>
              <a:t>PowerPoint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489442" y="2978468"/>
            <a:ext cx="20890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150" dirty="0">
                <a:solidFill>
                  <a:srgbClr val="FFB347"/>
                </a:solidFill>
                <a:latin typeface="Consolas"/>
                <a:ea typeface="Consolas"/>
                <a:cs typeface="Consolas"/>
              </a:rPr>
              <a:t>EDITABLE DELIVERY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487156" y="3406140"/>
            <a:ext cx="195681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文字、形状与关系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487156" y="3787140"/>
            <a:ext cx="21991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备注、转场与包结构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489442" y="4369118"/>
            <a:ext cx="249442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7890AA"/>
                </a:solidFill>
                <a:latin typeface="Arial"/>
                <a:ea typeface="Microsoft YaHei"/>
                <a:cs typeface="Arial"/>
              </a:rPr>
              <a:t>回答：文件是否还能继续工作</a:t>
            </a:r>
          </a:p>
        </p:txBody>
      </p:sp>
      <p:sp>
        <p:nvSpPr>
          <p:cNvPr id="43" name="Freeform 43"/>
          <p:cNvSpPr/>
          <p:nvPr/>
        </p:nvSpPr>
        <p:spPr>
          <a:xfrm>
            <a:off x="4000500" y="3200400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381000" y="0"/>
                </a:lnTo>
                <a:moveTo>
                  <a:pt x="381000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AFC2D9"/>
            </a:solidFill>
          </a:ln>
        </p:spPr>
      </p:sp>
      <p:sp>
        <p:nvSpPr>
          <p:cNvPr id="44" name="Freeform 44"/>
          <p:cNvSpPr/>
          <p:nvPr/>
        </p:nvSpPr>
        <p:spPr>
          <a:xfrm>
            <a:off x="4229100" y="3124200"/>
            <a:ext cx="3924300" cy="152400"/>
          </a:xfrm>
          <a:custGeom>
            <a:avLst/>
            <a:gdLst/>
            <a:ahLst/>
            <a:cxnLst/>
            <a:rect l="l" t="t" r="r" b="b"/>
            <a:pathLst>
              <a:path w="392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  <a:moveTo>
                  <a:pt x="3810000" y="0"/>
                </a:moveTo>
                <a:lnTo>
                  <a:pt x="3924300" y="76200"/>
                </a:lnTo>
                <a:lnTo>
                  <a:pt x="3810000" y="152400"/>
                </a:lnTo>
              </a:path>
            </a:pathLst>
          </a:custGeom>
          <a:noFill/>
          <a:ln w="19050">
            <a:solidFill>
              <a:srgbClr val="AFC2D9"/>
            </a:solidFill>
          </a:ln>
        </p:spPr>
      </p:sp>
      <p:sp>
        <p:nvSpPr>
          <p:cNvPr id="45" name="Rectangle 45"/>
          <p:cNvSpPr/>
          <p:nvPr/>
        </p:nvSpPr>
        <p:spPr>
          <a:xfrm>
            <a:off x="571500" y="5219700"/>
            <a:ext cx="11049000" cy="1066800"/>
          </a:xfrm>
          <a:prstGeom prst="roundRect">
            <a:avLst>
              <a:gd name="adj" fmla="val 7143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46" name="Rectangle 46"/>
          <p:cNvSpPr/>
          <p:nvPr/>
        </p:nvSpPr>
        <p:spPr>
          <a:xfrm>
            <a:off x="571500" y="5219700"/>
            <a:ext cx="11049000" cy="57150"/>
          </a:xfrm>
          <a:prstGeom prst="roundRect">
            <a:avLst>
              <a:gd name="adj" fmla="val 50000"/>
            </a:avLst>
          </a:prstGeom>
          <a:solidFill>
            <a:srgbClr val="33D1FF"/>
          </a:solidFill>
          <a:ln>
            <a:noFill/>
          </a:ln>
        </p:spPr>
      </p:sp>
      <p:grpSp>
        <p:nvGrpSpPr>
          <p:cNvPr id="50" name="Group 50"/>
          <p:cNvGrpSpPr/>
          <p:nvPr/>
        </p:nvGrpSpPr>
        <p:grpSpPr>
          <a:xfrm>
            <a:off x="927100" y="5592355"/>
            <a:ext cx="300444" cy="300444"/>
            <a:chOff x="927100" y="5592355"/>
            <a:chExt cx="300444" cy="300444"/>
          </a:xfrm>
        </p:grpSpPr>
        <p:sp>
          <p:nvSpPr>
            <p:cNvPr id="47" name="Freeform 47"/>
            <p:cNvSpPr/>
            <p:nvPr/>
          </p:nvSpPr>
          <p:spPr>
            <a:xfrm>
              <a:off x="927100" y="5665787"/>
              <a:ext cx="227012" cy="227012"/>
            </a:xfrm>
            <a:custGeom>
              <a:avLst/>
              <a:gdLst/>
              <a:ahLst/>
              <a:cxnLst/>
              <a:rect l="l" t="t" r="r" b="b"/>
              <a:pathLst>
                <a:path w="227012" h="227012">
                  <a:moveTo>
                    <a:pt x="52387" y="0"/>
                  </a:moveTo>
                  <a:lnTo>
                    <a:pt x="34925" y="0"/>
                  </a:lnTo>
                  <a:cubicBezTo>
                    <a:pt x="15636" y="0"/>
                    <a:pt x="0" y="15636"/>
                    <a:pt x="0" y="34925"/>
                  </a:cubicBezTo>
                  <a:lnTo>
                    <a:pt x="0" y="192087"/>
                  </a:lnTo>
                  <a:cubicBezTo>
                    <a:pt x="0" y="211376"/>
                    <a:pt x="15636" y="227012"/>
                    <a:pt x="34925" y="227012"/>
                  </a:cubicBezTo>
                  <a:lnTo>
                    <a:pt x="192087" y="227012"/>
                  </a:lnTo>
                  <a:cubicBezTo>
                    <a:pt x="211376" y="227012"/>
                    <a:pt x="227012" y="211376"/>
                    <a:pt x="227012" y="192087"/>
                  </a:cubicBezTo>
                  <a:lnTo>
                    <a:pt x="227012" y="174625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014412" y="5592355"/>
              <a:ext cx="213132" cy="213132"/>
            </a:xfrm>
            <a:custGeom>
              <a:avLst/>
              <a:gdLst/>
              <a:ahLst/>
              <a:cxnLst/>
              <a:rect l="l" t="t" r="r" b="b"/>
              <a:pathLst>
                <a:path w="213132" h="213132">
                  <a:moveTo>
                    <a:pt x="198810" y="66185"/>
                  </a:moveTo>
                  <a:cubicBezTo>
                    <a:pt x="213132" y="51864"/>
                    <a:pt x="213132" y="28643"/>
                    <a:pt x="198810" y="14322"/>
                  </a:cubicBezTo>
                  <a:cubicBezTo>
                    <a:pt x="184488" y="0"/>
                    <a:pt x="161268" y="0"/>
                    <a:pt x="146947" y="14322"/>
                  </a:cubicBezTo>
                  <a:lnTo>
                    <a:pt x="0" y="160745"/>
                  </a:lnTo>
                  <a:lnTo>
                    <a:pt x="0" y="213132"/>
                  </a:lnTo>
                  <a:lnTo>
                    <a:pt x="52387" y="213132"/>
                  </a:lnTo>
                  <a:lnTo>
                    <a:pt x="198810" y="66185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136649" y="5630862"/>
              <a:ext cx="52387" cy="52387"/>
            </a:xfrm>
            <a:custGeom>
              <a:avLst/>
              <a:gdLst/>
              <a:ahLst/>
              <a:cxnLst/>
              <a:rect l="l" t="t" r="r" b="b"/>
              <a:pathLst>
                <a:path w="52387" h="52387">
                  <a:moveTo>
                    <a:pt x="0" y="0"/>
                  </a:moveTo>
                  <a:lnTo>
                    <a:pt x="52387" y="52387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51" name="TextBox 51"/>
          <p:cNvSpPr txBox="1"/>
          <p:nvPr/>
        </p:nvSpPr>
        <p:spPr>
          <a:xfrm>
            <a:off x="1492758" y="5646420"/>
            <a:ext cx="887861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兼容不是“能打开”，而是结构与原生编辑能力都能留下来。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33D1FF">
                  <a:alpha val="12000"/>
                </a:srgbClr>
              </a:gs>
              <a:gs pos="100000">
                <a:srgbClr val="33D1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64642" y="482918"/>
            <a:ext cx="254555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225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REPEATABLE PIPELINE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52450" y="727710"/>
            <a:ext cx="5381168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一条可复跑的生产链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74382" y="521018"/>
            <a:ext cx="65297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03 / 05</a:t>
            </a:r>
          </a:p>
        </p:txBody>
      </p:sp>
      <p:sp>
        <p:nvSpPr>
          <p:cNvPr id="6" name="Freeform 6"/>
          <p:cNvSpPr/>
          <p:nvPr/>
        </p:nvSpPr>
        <p:spPr>
          <a:xfrm>
            <a:off x="571500" y="1466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19050">
            <a:solidFill>
              <a:srgbClr val="23415E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1524000" y="2952750"/>
            <a:ext cx="8839200" cy="9525"/>
          </a:xfrm>
          <a:custGeom>
            <a:avLst/>
            <a:gdLst/>
            <a:ahLst/>
            <a:cxnLst/>
            <a:rect l="l" t="t" r="r" b="b"/>
            <a:pathLst>
              <a:path w="8839200" h="9525">
                <a:moveTo>
                  <a:pt x="0" y="0"/>
                </a:moveTo>
                <a:lnTo>
                  <a:pt x="8839200" y="0"/>
                </a:lnTo>
              </a:path>
            </a:pathLst>
          </a:custGeom>
          <a:noFill/>
          <a:ln w="114300" cap="rnd">
            <a:solidFill>
              <a:srgbClr val="33D1FF">
                <a:alpha val="12000"/>
              </a:srgbClr>
            </a:solidFill>
          </a:ln>
        </p:spPr>
      </p:sp>
      <p:sp>
        <p:nvSpPr>
          <p:cNvPr id="8" name="Freeform 8"/>
          <p:cNvSpPr/>
          <p:nvPr/>
        </p:nvSpPr>
        <p:spPr>
          <a:xfrm>
            <a:off x="1524000" y="2952750"/>
            <a:ext cx="8839200" cy="9525"/>
          </a:xfrm>
          <a:custGeom>
            <a:avLst/>
            <a:gdLst/>
            <a:ahLst/>
            <a:cxnLst/>
            <a:rect l="l" t="t" r="r" b="b"/>
            <a:pathLst>
              <a:path w="8839200" h="9525">
                <a:moveTo>
                  <a:pt x="0" y="0"/>
                </a:moveTo>
                <a:lnTo>
                  <a:pt x="8839200" y="0"/>
                </a:lnTo>
              </a:path>
            </a:pathLst>
          </a:custGeom>
          <a:noFill/>
          <a:ln w="19050" cap="rnd">
            <a:solidFill>
              <a:srgbClr val="33D1FF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71500" y="1943100"/>
            <a:ext cx="1905000" cy="3143250"/>
          </a:xfrm>
          <a:prstGeom prst="roundRect">
            <a:avLst>
              <a:gd name="adj" fmla="val 4000"/>
            </a:avLst>
          </a:prstGeom>
          <a:solidFill>
            <a:srgbClr val="10243B"/>
          </a:solidFill>
          <a:ln w="19050">
            <a:solidFill>
              <a:srgbClr val="33D1FF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793242" y="2140268"/>
            <a:ext cx="117306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01 / SOURCE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03288" y="2595563"/>
            <a:ext cx="288925" cy="371476"/>
            <a:chOff x="903288" y="2595563"/>
            <a:chExt cx="288925" cy="371476"/>
          </a:xfrm>
        </p:grpSpPr>
        <p:sp>
          <p:nvSpPr>
            <p:cNvPr id="11" name="Freeform 11"/>
            <p:cNvSpPr/>
            <p:nvPr/>
          </p:nvSpPr>
          <p:spPr>
            <a:xfrm>
              <a:off x="1089025" y="2595563"/>
              <a:ext cx="103188" cy="103188"/>
            </a:xfrm>
            <a:custGeom>
              <a:avLst/>
              <a:gdLst/>
              <a:ahLst/>
              <a:cxnLst/>
              <a:rect l="l" t="t" r="r" b="b"/>
              <a:pathLst>
                <a:path w="103188" h="103188">
                  <a:moveTo>
                    <a:pt x="0" y="0"/>
                  </a:moveTo>
                  <a:lnTo>
                    <a:pt x="0" y="82550"/>
                  </a:lnTo>
                  <a:cubicBezTo>
                    <a:pt x="0" y="93948"/>
                    <a:pt x="9240" y="103188"/>
                    <a:pt x="20638" y="103188"/>
                  </a:cubicBezTo>
                  <a:lnTo>
                    <a:pt x="103188" y="103188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903288" y="2595563"/>
              <a:ext cx="288925" cy="371476"/>
            </a:xfrm>
            <a:custGeom>
              <a:avLst/>
              <a:gdLst/>
              <a:ahLst/>
              <a:cxnLst/>
              <a:rect l="l" t="t" r="r" b="b"/>
              <a:pathLst>
                <a:path w="288925" h="371476">
                  <a:moveTo>
                    <a:pt x="247650" y="371476"/>
                  </a:moveTo>
                  <a:lnTo>
                    <a:pt x="41275" y="371476"/>
                  </a:lnTo>
                  <a:cubicBezTo>
                    <a:pt x="18479" y="371476"/>
                    <a:pt x="0" y="352996"/>
                    <a:pt x="0" y="330201"/>
                  </a:cubicBezTo>
                  <a:lnTo>
                    <a:pt x="0" y="41275"/>
                  </a:lnTo>
                  <a:cubicBezTo>
                    <a:pt x="0" y="18479"/>
                    <a:pt x="18479" y="0"/>
                    <a:pt x="41275" y="0"/>
                  </a:cubicBezTo>
                  <a:lnTo>
                    <a:pt x="185738" y="0"/>
                  </a:lnTo>
                  <a:lnTo>
                    <a:pt x="288925" y="103188"/>
                  </a:lnTo>
                  <a:lnTo>
                    <a:pt x="288925" y="330201"/>
                  </a:lnTo>
                  <a:cubicBezTo>
                    <a:pt x="288925" y="352996"/>
                    <a:pt x="270446" y="371476"/>
                    <a:pt x="247650" y="371476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985838" y="2719388"/>
              <a:ext cx="20638" cy="9525"/>
            </a:xfrm>
            <a:custGeom>
              <a:avLst/>
              <a:gdLst/>
              <a:ahLst/>
              <a:cxnLst/>
              <a:rect l="l" t="t" r="r" b="b"/>
              <a:pathLst>
                <a:path w="20638" h="9525">
                  <a:moveTo>
                    <a:pt x="0" y="0"/>
                  </a:moveTo>
                  <a:lnTo>
                    <a:pt x="20638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985838" y="2801938"/>
              <a:ext cx="123825" cy="9525"/>
            </a:xfrm>
            <a:custGeom>
              <a:avLst/>
              <a:gdLst/>
              <a:ahLst/>
              <a:cxnLst/>
              <a:rect l="l" t="t" r="r" b="b"/>
              <a:pathLst>
                <a:path w="123825" h="952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985838" y="2884488"/>
              <a:ext cx="123825" cy="9525"/>
            </a:xfrm>
            <a:custGeom>
              <a:avLst/>
              <a:gdLst/>
              <a:ahLst/>
              <a:cxnLst/>
              <a:rect l="l" t="t" r="r" b="b"/>
              <a:pathLst>
                <a:path w="123825" h="952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17" name="TextBox 17"/>
          <p:cNvSpPr txBox="1"/>
          <p:nvPr/>
        </p:nvSpPr>
        <p:spPr>
          <a:xfrm>
            <a:off x="790956" y="3291840"/>
            <a:ext cx="103601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原始材料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3242" y="3759518"/>
            <a:ext cx="128587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文档与演示目标</a:t>
            </a:r>
          </a:p>
        </p:txBody>
      </p:sp>
      <p:sp>
        <p:nvSpPr>
          <p:cNvPr id="19" name="Rectangle 19"/>
          <p:cNvSpPr/>
          <p:nvPr/>
        </p:nvSpPr>
        <p:spPr>
          <a:xfrm>
            <a:off x="800100" y="436245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1025771" y="4511992"/>
            <a:ext cx="99645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source.md</a:t>
            </a:r>
          </a:p>
        </p:txBody>
      </p:sp>
      <p:sp>
        <p:nvSpPr>
          <p:cNvPr id="21" name="Freeform 21"/>
          <p:cNvSpPr/>
          <p:nvPr/>
        </p:nvSpPr>
        <p:spPr>
          <a:xfrm>
            <a:off x="2476500" y="2952750"/>
            <a:ext cx="304800" cy="9525"/>
          </a:xfrm>
          <a:custGeom>
            <a:avLst/>
            <a:gdLst/>
            <a:ahLst/>
            <a:cxnLst/>
            <a:rect l="l" t="t" r="r" b="b"/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22" name="Freeform 22"/>
          <p:cNvSpPr/>
          <p:nvPr/>
        </p:nvSpPr>
        <p:spPr>
          <a:xfrm>
            <a:off x="2667000" y="28765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23" name="Rectangle 23"/>
          <p:cNvSpPr/>
          <p:nvPr/>
        </p:nvSpPr>
        <p:spPr>
          <a:xfrm>
            <a:off x="2781300" y="1943100"/>
            <a:ext cx="1905000" cy="3143250"/>
          </a:xfrm>
          <a:prstGeom prst="roundRect">
            <a:avLst>
              <a:gd name="adj" fmla="val 4000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3003042" y="2140268"/>
            <a:ext cx="139484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7C83FD"/>
                </a:solidFill>
                <a:latin typeface="Consolas"/>
                <a:ea typeface="Consolas"/>
                <a:cs typeface="Consolas"/>
              </a:rPr>
              <a:t>02 / CONTRACT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3071813" y="2616200"/>
            <a:ext cx="371475" cy="330201"/>
            <a:chOff x="3071813" y="2616200"/>
            <a:chExt cx="371475" cy="330201"/>
          </a:xfrm>
        </p:grpSpPr>
        <p:sp>
          <p:nvSpPr>
            <p:cNvPr id="25" name="Freeform 25"/>
            <p:cNvSpPr/>
            <p:nvPr/>
          </p:nvSpPr>
          <p:spPr>
            <a:xfrm>
              <a:off x="3071813" y="2616200"/>
              <a:ext cx="82550" cy="330201"/>
            </a:xfrm>
            <a:custGeom>
              <a:avLst/>
              <a:gdLst/>
              <a:ahLst/>
              <a:cxnLst/>
              <a:rect l="l" t="t" r="r" b="b"/>
              <a:pathLst>
                <a:path w="82550" h="330201">
                  <a:moveTo>
                    <a:pt x="82550" y="0"/>
                  </a:moveTo>
                  <a:cubicBezTo>
                    <a:pt x="59755" y="0"/>
                    <a:pt x="41275" y="18479"/>
                    <a:pt x="41275" y="41275"/>
                  </a:cubicBezTo>
                  <a:lnTo>
                    <a:pt x="41275" y="103188"/>
                  </a:lnTo>
                  <a:cubicBezTo>
                    <a:pt x="41275" y="137381"/>
                    <a:pt x="22796" y="165100"/>
                    <a:pt x="0" y="165100"/>
                  </a:cubicBezTo>
                  <a:cubicBezTo>
                    <a:pt x="22796" y="165100"/>
                    <a:pt x="41275" y="192819"/>
                    <a:pt x="41275" y="227013"/>
                  </a:cubicBezTo>
                  <a:lnTo>
                    <a:pt x="41275" y="288925"/>
                  </a:lnTo>
                  <a:cubicBezTo>
                    <a:pt x="41275" y="311721"/>
                    <a:pt x="59755" y="330201"/>
                    <a:pt x="82550" y="330201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3360738" y="2616200"/>
              <a:ext cx="82550" cy="330201"/>
            </a:xfrm>
            <a:custGeom>
              <a:avLst/>
              <a:gdLst/>
              <a:ahLst/>
              <a:cxnLst/>
              <a:rect l="l" t="t" r="r" b="b"/>
              <a:pathLst>
                <a:path w="82550" h="330201">
                  <a:moveTo>
                    <a:pt x="0" y="0"/>
                  </a:moveTo>
                  <a:cubicBezTo>
                    <a:pt x="22796" y="0"/>
                    <a:pt x="41275" y="18479"/>
                    <a:pt x="41275" y="41275"/>
                  </a:cubicBezTo>
                  <a:lnTo>
                    <a:pt x="41275" y="103188"/>
                  </a:lnTo>
                  <a:cubicBezTo>
                    <a:pt x="41275" y="137381"/>
                    <a:pt x="59755" y="165100"/>
                    <a:pt x="82550" y="165100"/>
                  </a:cubicBezTo>
                  <a:cubicBezTo>
                    <a:pt x="59755" y="165100"/>
                    <a:pt x="41275" y="192819"/>
                    <a:pt x="41275" y="227013"/>
                  </a:cubicBezTo>
                  <a:lnTo>
                    <a:pt x="41275" y="288925"/>
                  </a:lnTo>
                  <a:cubicBezTo>
                    <a:pt x="41275" y="311721"/>
                    <a:pt x="22796" y="330201"/>
                    <a:pt x="0" y="330201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28" name="TextBox 28"/>
          <p:cNvSpPr txBox="1"/>
          <p:nvPr/>
        </p:nvSpPr>
        <p:spPr>
          <a:xfrm>
            <a:off x="3000756" y="3291840"/>
            <a:ext cx="188668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AST 与逐页契约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003042" y="3759518"/>
            <a:ext cx="146761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叙事、意图、备注</a:t>
            </a:r>
          </a:p>
        </p:txBody>
      </p:sp>
      <p:sp>
        <p:nvSpPr>
          <p:cNvPr id="30" name="Rectangle 30"/>
          <p:cNvSpPr/>
          <p:nvPr/>
        </p:nvSpPr>
        <p:spPr>
          <a:xfrm>
            <a:off x="3009900" y="436245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3035206" y="4511992"/>
            <a:ext cx="139718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slide_plan.json</a:t>
            </a:r>
          </a:p>
        </p:txBody>
      </p:sp>
      <p:sp>
        <p:nvSpPr>
          <p:cNvPr id="32" name="Freeform 32"/>
          <p:cNvSpPr/>
          <p:nvPr/>
        </p:nvSpPr>
        <p:spPr>
          <a:xfrm>
            <a:off x="4686300" y="2952750"/>
            <a:ext cx="304800" cy="9525"/>
          </a:xfrm>
          <a:custGeom>
            <a:avLst/>
            <a:gdLst/>
            <a:ahLst/>
            <a:cxnLst/>
            <a:rect l="l" t="t" r="r" b="b"/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33" name="Freeform 33"/>
          <p:cNvSpPr/>
          <p:nvPr/>
        </p:nvSpPr>
        <p:spPr>
          <a:xfrm>
            <a:off x="4876800" y="28765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4991100" y="1943100"/>
            <a:ext cx="1905000" cy="3143250"/>
          </a:xfrm>
          <a:prstGeom prst="roundRect">
            <a:avLst>
              <a:gd name="adj" fmla="val 4000"/>
            </a:avLst>
          </a:prstGeom>
          <a:solidFill>
            <a:srgbClr val="10243B"/>
          </a:solidFill>
          <a:ln w="19050">
            <a:solidFill>
              <a:srgbClr val="33D1FF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5212842" y="2140268"/>
            <a:ext cx="127387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03 / CONFIRM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5281613" y="2595563"/>
            <a:ext cx="371475" cy="371475"/>
            <a:chOff x="5281613" y="2595563"/>
            <a:chExt cx="371475" cy="371475"/>
          </a:xfrm>
        </p:grpSpPr>
        <p:sp>
          <p:nvSpPr>
            <p:cNvPr id="36" name="Freeform 36"/>
            <p:cNvSpPr/>
            <p:nvPr/>
          </p:nvSpPr>
          <p:spPr>
            <a:xfrm>
              <a:off x="5281613" y="2884488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82550" h="82550">
                  <a:moveTo>
                    <a:pt x="0" y="41275"/>
                  </a:moveTo>
                  <a:cubicBezTo>
                    <a:pt x="0" y="64071"/>
                    <a:pt x="18479" y="82550"/>
                    <a:pt x="41275" y="82550"/>
                  </a:cubicBezTo>
                  <a:cubicBezTo>
                    <a:pt x="64071" y="82550"/>
                    <a:pt x="82550" y="64071"/>
                    <a:pt x="82550" y="41275"/>
                  </a:cubicBezTo>
                  <a:cubicBezTo>
                    <a:pt x="82550" y="18479"/>
                    <a:pt x="64071" y="0"/>
                    <a:pt x="41275" y="0"/>
                  </a:cubicBezTo>
                  <a:cubicBezTo>
                    <a:pt x="18479" y="0"/>
                    <a:pt x="0" y="18479"/>
                    <a:pt x="0" y="41275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570538" y="2595563"/>
              <a:ext cx="82550" cy="82550"/>
            </a:xfrm>
            <a:custGeom>
              <a:avLst/>
              <a:gdLst/>
              <a:ahLst/>
              <a:cxnLst/>
              <a:rect l="l" t="t" r="r" b="b"/>
              <a:pathLst>
                <a:path w="82550" h="82550">
                  <a:moveTo>
                    <a:pt x="41275" y="82550"/>
                  </a:moveTo>
                  <a:cubicBezTo>
                    <a:pt x="64071" y="82550"/>
                    <a:pt x="82550" y="64071"/>
                    <a:pt x="82550" y="41275"/>
                  </a:cubicBezTo>
                  <a:cubicBezTo>
                    <a:pt x="82550" y="18479"/>
                    <a:pt x="64071" y="0"/>
                    <a:pt x="41275" y="0"/>
                  </a:cubicBezTo>
                  <a:cubicBezTo>
                    <a:pt x="18479" y="0"/>
                    <a:pt x="0" y="18479"/>
                    <a:pt x="0" y="41275"/>
                  </a:cubicBezTo>
                  <a:cubicBezTo>
                    <a:pt x="0" y="64071"/>
                    <a:pt x="18479" y="82550"/>
                    <a:pt x="41275" y="82550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5322888" y="2636838"/>
              <a:ext cx="309563" cy="288925"/>
            </a:xfrm>
            <a:custGeom>
              <a:avLst/>
              <a:gdLst/>
              <a:ahLst/>
              <a:cxnLst/>
              <a:rect l="l" t="t" r="r" b="b"/>
              <a:pathLst>
                <a:path w="309563" h="288925">
                  <a:moveTo>
                    <a:pt x="123825" y="288925"/>
                  </a:moveTo>
                  <a:lnTo>
                    <a:pt x="237332" y="288925"/>
                  </a:lnTo>
                  <a:cubicBezTo>
                    <a:pt x="277224" y="288925"/>
                    <a:pt x="309563" y="256586"/>
                    <a:pt x="309563" y="216694"/>
                  </a:cubicBezTo>
                  <a:cubicBezTo>
                    <a:pt x="309563" y="176802"/>
                    <a:pt x="277224" y="144463"/>
                    <a:pt x="237332" y="144463"/>
                  </a:cubicBezTo>
                  <a:lnTo>
                    <a:pt x="72231" y="144463"/>
                  </a:lnTo>
                  <a:cubicBezTo>
                    <a:pt x="32339" y="144463"/>
                    <a:pt x="0" y="112124"/>
                    <a:pt x="0" y="72231"/>
                  </a:cubicBezTo>
                  <a:cubicBezTo>
                    <a:pt x="0" y="32339"/>
                    <a:pt x="32339" y="0"/>
                    <a:pt x="72231" y="0"/>
                  </a:cubicBezTo>
                  <a:lnTo>
                    <a:pt x="165100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40" name="TextBox 40"/>
          <p:cNvSpPr txBox="1"/>
          <p:nvPr/>
        </p:nvSpPr>
        <p:spPr>
          <a:xfrm>
            <a:off x="5210556" y="3291840"/>
            <a:ext cx="179931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三阶段设计确认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212842" y="3759518"/>
            <a:ext cx="146761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方向、系统、执行</a:t>
            </a:r>
          </a:p>
        </p:txBody>
      </p:sp>
      <p:sp>
        <p:nvSpPr>
          <p:cNvPr id="42" name="Rectangle 42"/>
          <p:cNvSpPr/>
          <p:nvPr/>
        </p:nvSpPr>
        <p:spPr>
          <a:xfrm>
            <a:off x="5219700" y="436245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5311794" y="4511992"/>
            <a:ext cx="126361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spec_lock.md</a:t>
            </a:r>
          </a:p>
        </p:txBody>
      </p:sp>
      <p:sp>
        <p:nvSpPr>
          <p:cNvPr id="44" name="Freeform 44"/>
          <p:cNvSpPr/>
          <p:nvPr/>
        </p:nvSpPr>
        <p:spPr>
          <a:xfrm>
            <a:off x="6896100" y="2952750"/>
            <a:ext cx="304800" cy="9525"/>
          </a:xfrm>
          <a:custGeom>
            <a:avLst/>
            <a:gdLst/>
            <a:ahLst/>
            <a:cxnLst/>
            <a:rect l="l" t="t" r="r" b="b"/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45" name="Freeform 45"/>
          <p:cNvSpPr/>
          <p:nvPr/>
        </p:nvSpPr>
        <p:spPr>
          <a:xfrm>
            <a:off x="7086600" y="28765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46" name="Rectangle 46"/>
          <p:cNvSpPr/>
          <p:nvPr/>
        </p:nvSpPr>
        <p:spPr>
          <a:xfrm>
            <a:off x="7200900" y="1943100"/>
            <a:ext cx="1905000" cy="3143250"/>
          </a:xfrm>
          <a:prstGeom prst="roundRect">
            <a:avLst>
              <a:gd name="adj" fmla="val 4000"/>
            </a:avLst>
          </a:prstGeom>
          <a:solidFill>
            <a:srgbClr val="10243B"/>
          </a:solidFill>
          <a:ln w="19050">
            <a:solidFill>
              <a:srgbClr val="FFB347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7422642" y="2140268"/>
            <a:ext cx="117306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FFB347"/>
                </a:solidFill>
                <a:latin typeface="Consolas"/>
                <a:ea typeface="Consolas"/>
                <a:cs typeface="Consolas"/>
              </a:rPr>
              <a:t>04 / EXPORT</a:t>
            </a:r>
          </a:p>
        </p:txBody>
      </p:sp>
      <p:grpSp>
        <p:nvGrpSpPr>
          <p:cNvPr id="53" name="Group 53"/>
          <p:cNvGrpSpPr/>
          <p:nvPr/>
        </p:nvGrpSpPr>
        <p:grpSpPr>
          <a:xfrm>
            <a:off x="7491413" y="2616200"/>
            <a:ext cx="371476" cy="339726"/>
            <a:chOff x="7491413" y="2616200"/>
            <a:chExt cx="371476" cy="339726"/>
          </a:xfrm>
        </p:grpSpPr>
        <p:sp>
          <p:nvSpPr>
            <p:cNvPr id="48" name="Freeform 48"/>
            <p:cNvSpPr/>
            <p:nvPr/>
          </p:nvSpPr>
          <p:spPr>
            <a:xfrm>
              <a:off x="7491413" y="2616200"/>
              <a:ext cx="371476" cy="9525"/>
            </a:xfrm>
            <a:custGeom>
              <a:avLst/>
              <a:gdLst/>
              <a:ahLst/>
              <a:cxnLst/>
              <a:rect l="l" t="t" r="r" b="b"/>
              <a:pathLst>
                <a:path w="371476" h="9525">
                  <a:moveTo>
                    <a:pt x="0" y="0"/>
                  </a:moveTo>
                  <a:lnTo>
                    <a:pt x="371476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7512050" y="2616200"/>
              <a:ext cx="330201" cy="247650"/>
            </a:xfrm>
            <a:custGeom>
              <a:avLst/>
              <a:gdLst/>
              <a:ahLst/>
              <a:cxnLst/>
              <a:rect l="l" t="t" r="r" b="b"/>
              <a:pathLst>
                <a:path w="330201" h="247650">
                  <a:moveTo>
                    <a:pt x="0" y="0"/>
                  </a:moveTo>
                  <a:lnTo>
                    <a:pt x="0" y="206375"/>
                  </a:lnTo>
                  <a:cubicBezTo>
                    <a:pt x="0" y="229171"/>
                    <a:pt x="18479" y="247650"/>
                    <a:pt x="41275" y="247650"/>
                  </a:cubicBezTo>
                  <a:lnTo>
                    <a:pt x="288925" y="247650"/>
                  </a:lnTo>
                  <a:cubicBezTo>
                    <a:pt x="311721" y="247650"/>
                    <a:pt x="330201" y="229171"/>
                    <a:pt x="330201" y="206375"/>
                  </a:cubicBezTo>
                  <a:lnTo>
                    <a:pt x="330201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7677150" y="2863851"/>
              <a:ext cx="9525" cy="82550"/>
            </a:xfrm>
            <a:custGeom>
              <a:avLst/>
              <a:gdLst/>
              <a:ahLst/>
              <a:cxnLst/>
              <a:rect l="l" t="t" r="r" b="b"/>
              <a:pathLst>
                <a:path w="9525" h="82550">
                  <a:moveTo>
                    <a:pt x="0" y="0"/>
                  </a:moveTo>
                  <a:lnTo>
                    <a:pt x="0" y="8255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7615238" y="2946401"/>
              <a:ext cx="123825" cy="9525"/>
            </a:xfrm>
            <a:custGeom>
              <a:avLst/>
              <a:gdLst/>
              <a:ahLst/>
              <a:cxnLst/>
              <a:rect l="l" t="t" r="r" b="b"/>
              <a:pathLst>
                <a:path w="123825" h="9525">
                  <a:moveTo>
                    <a:pt x="0" y="0"/>
                  </a:moveTo>
                  <a:lnTo>
                    <a:pt x="123825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7594600" y="2698750"/>
              <a:ext cx="165100" cy="82550"/>
            </a:xfrm>
            <a:custGeom>
              <a:avLst/>
              <a:gdLst/>
              <a:ahLst/>
              <a:cxnLst/>
              <a:rect l="l" t="t" r="r" b="b"/>
              <a:pathLst>
                <a:path w="165100" h="82550">
                  <a:moveTo>
                    <a:pt x="0" y="82550"/>
                  </a:moveTo>
                  <a:lnTo>
                    <a:pt x="61913" y="20638"/>
                  </a:lnTo>
                  <a:lnTo>
                    <a:pt x="103188" y="61913"/>
                  </a:lnTo>
                  <a:lnTo>
                    <a:pt x="1651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54" name="TextBox 54"/>
          <p:cNvSpPr txBox="1"/>
          <p:nvPr/>
        </p:nvSpPr>
        <p:spPr>
          <a:xfrm>
            <a:off x="7420356" y="3291840"/>
            <a:ext cx="20345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原生可编辑 PPTX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7422642" y="3759518"/>
            <a:ext cx="138394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DrawingML 对象</a:t>
            </a:r>
          </a:p>
        </p:txBody>
      </p:sp>
      <p:sp>
        <p:nvSpPr>
          <p:cNvPr id="56" name="Rectangle 56"/>
          <p:cNvSpPr/>
          <p:nvPr/>
        </p:nvSpPr>
        <p:spPr>
          <a:xfrm>
            <a:off x="7429500" y="436245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7674253" y="4511992"/>
            <a:ext cx="95829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deck.pptx</a:t>
            </a:r>
          </a:p>
        </p:txBody>
      </p:sp>
      <p:sp>
        <p:nvSpPr>
          <p:cNvPr id="58" name="Freeform 58"/>
          <p:cNvSpPr/>
          <p:nvPr/>
        </p:nvSpPr>
        <p:spPr>
          <a:xfrm>
            <a:off x="9105900" y="2952750"/>
            <a:ext cx="304800" cy="9525"/>
          </a:xfrm>
          <a:custGeom>
            <a:avLst/>
            <a:gdLst/>
            <a:ahLst/>
            <a:cxnLst/>
            <a:rect l="l" t="t" r="r" b="b"/>
            <a:pathLst>
              <a:path w="304800" h="9525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59" name="Freeform 59"/>
          <p:cNvSpPr/>
          <p:nvPr/>
        </p:nvSpPr>
        <p:spPr>
          <a:xfrm>
            <a:off x="9296400" y="2876550"/>
            <a:ext cx="114300" cy="152400"/>
          </a:xfrm>
          <a:custGeom>
            <a:avLst/>
            <a:gdLst/>
            <a:ahLst/>
            <a:cxnLst/>
            <a:rect l="l" t="t" r="r" b="b"/>
            <a:pathLst>
              <a:path w="114300" h="152400">
                <a:moveTo>
                  <a:pt x="0" y="0"/>
                </a:moveTo>
                <a:lnTo>
                  <a:pt x="114300" y="76200"/>
                </a:lnTo>
                <a:lnTo>
                  <a:pt x="0" y="152400"/>
                </a:lnTo>
              </a:path>
            </a:pathLst>
          </a:custGeom>
          <a:noFill/>
          <a:ln w="19050">
            <a:solidFill>
              <a:srgbClr val="FFB347"/>
            </a:solidFill>
          </a:ln>
        </p:spPr>
      </p:sp>
      <p:sp>
        <p:nvSpPr>
          <p:cNvPr id="60" name="Rectangle 60"/>
          <p:cNvSpPr/>
          <p:nvPr/>
        </p:nvSpPr>
        <p:spPr>
          <a:xfrm>
            <a:off x="9410700" y="1943100"/>
            <a:ext cx="2209800" cy="3143250"/>
          </a:xfrm>
          <a:prstGeom prst="roundRect">
            <a:avLst>
              <a:gd name="adj" fmla="val 3448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sp>
        <p:nvSpPr>
          <p:cNvPr id="61" name="TextBox 61"/>
          <p:cNvSpPr txBox="1"/>
          <p:nvPr/>
        </p:nvSpPr>
        <p:spPr>
          <a:xfrm>
            <a:off x="9632442" y="2140268"/>
            <a:ext cx="124363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7C83FD"/>
                </a:solidFill>
                <a:latin typeface="Consolas"/>
                <a:ea typeface="Consolas"/>
                <a:cs typeface="Consolas"/>
              </a:rPr>
              <a:t>05 / CHECKUP</a:t>
            </a:r>
          </a:p>
        </p:txBody>
      </p:sp>
      <p:grpSp>
        <p:nvGrpSpPr>
          <p:cNvPr id="64" name="Group 64"/>
          <p:cNvGrpSpPr/>
          <p:nvPr/>
        </p:nvGrpSpPr>
        <p:grpSpPr>
          <a:xfrm>
            <a:off x="9701213" y="2595563"/>
            <a:ext cx="371476" cy="371476"/>
            <a:chOff x="9701213" y="2595563"/>
            <a:chExt cx="371476" cy="371476"/>
          </a:xfrm>
        </p:grpSpPr>
        <p:sp>
          <p:nvSpPr>
            <p:cNvPr id="62" name="Freeform 62"/>
            <p:cNvSpPr/>
            <p:nvPr/>
          </p:nvSpPr>
          <p:spPr>
            <a:xfrm>
              <a:off x="9701213" y="2595563"/>
              <a:ext cx="371476" cy="371476"/>
            </a:xfrm>
            <a:custGeom>
              <a:avLst/>
              <a:gdLst/>
              <a:ahLst/>
              <a:cxnLst/>
              <a:rect l="l" t="t" r="r" b="b"/>
              <a:pathLst>
                <a:path w="371476" h="371476">
                  <a:moveTo>
                    <a:pt x="0" y="185738"/>
                  </a:moveTo>
                  <a:cubicBezTo>
                    <a:pt x="0" y="288318"/>
                    <a:pt x="83158" y="371476"/>
                    <a:pt x="185738" y="371476"/>
                  </a:cubicBezTo>
                  <a:cubicBezTo>
                    <a:pt x="288318" y="371476"/>
                    <a:pt x="371476" y="288318"/>
                    <a:pt x="371476" y="185738"/>
                  </a:cubicBezTo>
                  <a:cubicBezTo>
                    <a:pt x="371476" y="83158"/>
                    <a:pt x="288318" y="0"/>
                    <a:pt x="185738" y="0"/>
                  </a:cubicBezTo>
                  <a:cubicBezTo>
                    <a:pt x="83158" y="0"/>
                    <a:pt x="0" y="83158"/>
                    <a:pt x="0" y="185738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63" name="Freeform 63"/>
            <p:cNvSpPr/>
            <p:nvPr/>
          </p:nvSpPr>
          <p:spPr>
            <a:xfrm>
              <a:off x="9825038" y="2740025"/>
              <a:ext cx="123825" cy="82550"/>
            </a:xfrm>
            <a:custGeom>
              <a:avLst/>
              <a:gdLst/>
              <a:ahLst/>
              <a:cxnLst/>
              <a:rect l="l" t="t" r="r" b="b"/>
              <a:pathLst>
                <a:path w="123825" h="82550">
                  <a:moveTo>
                    <a:pt x="0" y="41275"/>
                  </a:moveTo>
                  <a:lnTo>
                    <a:pt x="41275" y="82550"/>
                  </a:lnTo>
                  <a:lnTo>
                    <a:pt x="123825" y="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65" name="TextBox 65"/>
          <p:cNvSpPr txBox="1"/>
          <p:nvPr/>
        </p:nvSpPr>
        <p:spPr>
          <a:xfrm>
            <a:off x="9630156" y="3291840"/>
            <a:ext cx="223469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Humanize 演讲体检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632442" y="3759518"/>
            <a:ext cx="183108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结构、备注、可编辑性</a:t>
            </a:r>
          </a:p>
        </p:txBody>
      </p:sp>
      <p:sp>
        <p:nvSpPr>
          <p:cNvPr id="67" name="Rectangle 67"/>
          <p:cNvSpPr/>
          <p:nvPr/>
        </p:nvSpPr>
        <p:spPr>
          <a:xfrm>
            <a:off x="9639300" y="4362450"/>
            <a:ext cx="1752600" cy="457200"/>
          </a:xfrm>
          <a:prstGeom prst="roundRect">
            <a:avLst>
              <a:gd name="adj" fmla="val 16667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68" name="TextBox 68"/>
          <p:cNvSpPr txBox="1"/>
          <p:nvPr/>
        </p:nvSpPr>
        <p:spPr>
          <a:xfrm>
            <a:off x="9859941" y="4511992"/>
            <a:ext cx="131131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qa_report.md</a:t>
            </a:r>
          </a:p>
        </p:txBody>
      </p:sp>
      <p:sp>
        <p:nvSpPr>
          <p:cNvPr id="69" name="Rectangle 69"/>
          <p:cNvSpPr/>
          <p:nvPr/>
        </p:nvSpPr>
        <p:spPr>
          <a:xfrm>
            <a:off x="571500" y="5467350"/>
            <a:ext cx="11049000" cy="819150"/>
          </a:xfrm>
          <a:prstGeom prst="roundRect">
            <a:avLst>
              <a:gd name="adj" fmla="val 9302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70" name="TextBox 70"/>
          <p:cNvSpPr txBox="1"/>
          <p:nvPr/>
        </p:nvSpPr>
        <p:spPr>
          <a:xfrm>
            <a:off x="1074542" y="5722620"/>
            <a:ext cx="1004291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问题回到拥有它的源文件，而不是在导出的 OOXML 上打补丁。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B347">
                  <a:alpha val="16000"/>
                </a:srgbClr>
              </a:gs>
              <a:gs pos="100000">
                <a:srgbClr val="FFB34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64642" y="482918"/>
            <a:ext cx="197396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225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NATIVE DELIVERY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52450" y="727710"/>
            <a:ext cx="606389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交付的不只是 5 张画面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74382" y="521018"/>
            <a:ext cx="65297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04 / 05</a:t>
            </a:r>
          </a:p>
        </p:txBody>
      </p:sp>
      <p:sp>
        <p:nvSpPr>
          <p:cNvPr id="6" name="Freeform 6"/>
          <p:cNvSpPr/>
          <p:nvPr/>
        </p:nvSpPr>
        <p:spPr>
          <a:xfrm>
            <a:off x="571500" y="1466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19050">
            <a:solidFill>
              <a:srgbClr val="23415E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52450" y="2834640"/>
            <a:ext cx="644496" cy="15049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800" b="1" dirty="0">
                <a:solidFill>
                  <a:srgbClr val="FFB34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46098" y="2879408"/>
            <a:ext cx="2258282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15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类原生能力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52956" y="3463290"/>
            <a:ext cx="21991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每一项都能独立检查</a:t>
            </a:r>
          </a:p>
        </p:txBody>
      </p:sp>
      <p:sp>
        <p:nvSpPr>
          <p:cNvPr id="10" name="Freeform 10"/>
          <p:cNvSpPr/>
          <p:nvPr/>
        </p:nvSpPr>
        <p:spPr>
          <a:xfrm>
            <a:off x="571500" y="4171950"/>
            <a:ext cx="3124200" cy="9525"/>
          </a:xfrm>
          <a:custGeom>
            <a:avLst/>
            <a:gdLst/>
            <a:ahLst/>
            <a:cxnLst/>
            <a:rect l="l" t="t" r="r" b="b"/>
            <a:pathLst>
              <a:path w="3124200" h="9525">
                <a:moveTo>
                  <a:pt x="0" y="0"/>
                </a:moveTo>
                <a:lnTo>
                  <a:pt x="3124200" y="0"/>
                </a:lnTo>
              </a:path>
            </a:pathLst>
          </a:custGeom>
          <a:noFill/>
          <a:ln w="38100">
            <a:solidFill>
              <a:srgbClr val="FFB347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559308" y="4465320"/>
            <a:ext cx="239908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观众看到设计，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59308" y="4884420"/>
            <a:ext cx="3416808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创作者拿到工作文件。</a:t>
            </a:r>
          </a:p>
        </p:txBody>
      </p:sp>
      <p:sp>
        <p:nvSpPr>
          <p:cNvPr id="13" name="Rectangle 13"/>
          <p:cNvSpPr/>
          <p:nvPr/>
        </p:nvSpPr>
        <p:spPr>
          <a:xfrm>
            <a:off x="4267200" y="1809750"/>
            <a:ext cx="3371850" cy="1714500"/>
          </a:xfrm>
          <a:prstGeom prst="roundRect">
            <a:avLst>
              <a:gd name="adj" fmla="val 4444"/>
            </a:avLst>
          </a:prstGeom>
          <a:solidFill>
            <a:srgbClr val="10243B"/>
          </a:solidFill>
          <a:ln w="19050">
            <a:solidFill>
              <a:srgbClr val="33D1FF"/>
            </a:solidFill>
          </a:ln>
        </p:spPr>
      </p:sp>
      <p:grpSp>
        <p:nvGrpSpPr>
          <p:cNvPr id="17" name="Group 17"/>
          <p:cNvGrpSpPr/>
          <p:nvPr/>
        </p:nvGrpSpPr>
        <p:grpSpPr>
          <a:xfrm>
            <a:off x="4591050" y="2110642"/>
            <a:ext cx="327758" cy="327758"/>
            <a:chOff x="4591050" y="2110642"/>
            <a:chExt cx="327758" cy="327758"/>
          </a:xfrm>
        </p:grpSpPr>
        <p:sp>
          <p:nvSpPr>
            <p:cNvPr id="14" name="Freeform 14"/>
            <p:cNvSpPr/>
            <p:nvPr/>
          </p:nvSpPr>
          <p:spPr>
            <a:xfrm>
              <a:off x="4591050" y="2190750"/>
              <a:ext cx="247650" cy="247650"/>
            </a:xfrm>
            <a:custGeom>
              <a:avLst/>
              <a:gdLst/>
              <a:ahLst/>
              <a:cxnLst/>
              <a:rect l="l" t="t" r="r" b="b"/>
              <a:pathLst>
                <a:path w="247650" h="247650">
                  <a:moveTo>
                    <a:pt x="57150" y="0"/>
                  </a:moveTo>
                  <a:lnTo>
                    <a:pt x="38100" y="0"/>
                  </a:lnTo>
                  <a:cubicBezTo>
                    <a:pt x="17058" y="0"/>
                    <a:pt x="0" y="17058"/>
                    <a:pt x="0" y="38100"/>
                  </a:cubicBezTo>
                  <a:lnTo>
                    <a:pt x="0" y="209550"/>
                  </a:lnTo>
                  <a:cubicBezTo>
                    <a:pt x="0" y="230592"/>
                    <a:pt x="17058" y="247650"/>
                    <a:pt x="38100" y="247650"/>
                  </a:cubicBezTo>
                  <a:lnTo>
                    <a:pt x="209550" y="247650"/>
                  </a:lnTo>
                  <a:cubicBezTo>
                    <a:pt x="230592" y="247650"/>
                    <a:pt x="247650" y="230592"/>
                    <a:pt x="247650" y="209550"/>
                  </a:cubicBezTo>
                  <a:lnTo>
                    <a:pt x="247650" y="19050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686300" y="2110642"/>
              <a:ext cx="232508" cy="232508"/>
            </a:xfrm>
            <a:custGeom>
              <a:avLst/>
              <a:gdLst/>
              <a:ahLst/>
              <a:cxnLst/>
              <a:rect l="l" t="t" r="r" b="b"/>
              <a:pathLst>
                <a:path w="232508" h="232508">
                  <a:moveTo>
                    <a:pt x="216884" y="72202"/>
                  </a:moveTo>
                  <a:cubicBezTo>
                    <a:pt x="232508" y="56578"/>
                    <a:pt x="232508" y="31247"/>
                    <a:pt x="216884" y="15624"/>
                  </a:cubicBezTo>
                  <a:cubicBezTo>
                    <a:pt x="201261" y="0"/>
                    <a:pt x="175929" y="0"/>
                    <a:pt x="160306" y="15624"/>
                  </a:cubicBezTo>
                  <a:lnTo>
                    <a:pt x="0" y="175358"/>
                  </a:lnTo>
                  <a:lnTo>
                    <a:pt x="0" y="232508"/>
                  </a:lnTo>
                  <a:lnTo>
                    <a:pt x="57150" y="232508"/>
                  </a:lnTo>
                  <a:lnTo>
                    <a:pt x="216884" y="72202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819650" y="2152650"/>
              <a:ext cx="57150" cy="57150"/>
            </a:xfrm>
            <a:custGeom>
              <a:avLst/>
              <a:gdLst/>
              <a:ahLst/>
              <a:cxnLst/>
              <a:rect l="l" t="t" r="r" b="b"/>
              <a:pathLst>
                <a:path w="57150" h="57150">
                  <a:moveTo>
                    <a:pt x="0" y="0"/>
                  </a:moveTo>
                  <a:lnTo>
                    <a:pt x="57150" y="5715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5169408" y="2122170"/>
            <a:ext cx="172059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文字与形状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05706" y="2720340"/>
            <a:ext cx="268376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可修改、可重排、可复用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07992" y="3130868"/>
            <a:ext cx="172753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EDITABLE OBJECTS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867650" y="1809750"/>
            <a:ext cx="3371850" cy="1714500"/>
          </a:xfrm>
          <a:prstGeom prst="roundRect">
            <a:avLst>
              <a:gd name="adj" fmla="val 4444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grpSp>
        <p:nvGrpSpPr>
          <p:cNvPr id="27" name="Group 27"/>
          <p:cNvGrpSpPr/>
          <p:nvPr/>
        </p:nvGrpSpPr>
        <p:grpSpPr>
          <a:xfrm>
            <a:off x="8172450" y="2114550"/>
            <a:ext cx="342900" cy="342900"/>
            <a:chOff x="8172450" y="2114550"/>
            <a:chExt cx="342900" cy="342900"/>
          </a:xfrm>
        </p:grpSpPr>
        <p:sp>
          <p:nvSpPr>
            <p:cNvPr id="22" name="Freeform 22"/>
            <p:cNvSpPr/>
            <p:nvPr/>
          </p:nvSpPr>
          <p:spPr>
            <a:xfrm>
              <a:off x="8305800" y="21145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38100"/>
                  </a:moveTo>
                  <a:cubicBezTo>
                    <a:pt x="0" y="59142"/>
                    <a:pt x="17058" y="76200"/>
                    <a:pt x="38100" y="76200"/>
                  </a:cubicBezTo>
                  <a:cubicBezTo>
                    <a:pt x="59142" y="76200"/>
                    <a:pt x="76200" y="59142"/>
                    <a:pt x="76200" y="38100"/>
                  </a:cubicBezTo>
                  <a:cubicBezTo>
                    <a:pt x="76200" y="17058"/>
                    <a:pt x="59142" y="0"/>
                    <a:pt x="38100" y="0"/>
                  </a:cubicBezTo>
                  <a:cubicBezTo>
                    <a:pt x="17058" y="0"/>
                    <a:pt x="0" y="17058"/>
                    <a:pt x="0" y="38100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172450" y="23812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38100"/>
                  </a:moveTo>
                  <a:cubicBezTo>
                    <a:pt x="0" y="59142"/>
                    <a:pt x="17058" y="76200"/>
                    <a:pt x="38100" y="76200"/>
                  </a:cubicBezTo>
                  <a:cubicBezTo>
                    <a:pt x="59142" y="76200"/>
                    <a:pt x="76200" y="59142"/>
                    <a:pt x="76200" y="38100"/>
                  </a:cubicBezTo>
                  <a:cubicBezTo>
                    <a:pt x="76200" y="17058"/>
                    <a:pt x="59142" y="0"/>
                    <a:pt x="38100" y="0"/>
                  </a:cubicBezTo>
                  <a:cubicBezTo>
                    <a:pt x="17058" y="0"/>
                    <a:pt x="0" y="17058"/>
                    <a:pt x="0" y="38100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439150" y="23812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0" y="38100"/>
                  </a:moveTo>
                  <a:cubicBezTo>
                    <a:pt x="0" y="59142"/>
                    <a:pt x="17058" y="76200"/>
                    <a:pt x="38100" y="76200"/>
                  </a:cubicBezTo>
                  <a:cubicBezTo>
                    <a:pt x="59142" y="76200"/>
                    <a:pt x="76200" y="59142"/>
                    <a:pt x="76200" y="38100"/>
                  </a:cubicBezTo>
                  <a:cubicBezTo>
                    <a:pt x="76200" y="17058"/>
                    <a:pt x="59142" y="0"/>
                    <a:pt x="38100" y="0"/>
                  </a:cubicBezTo>
                  <a:cubicBezTo>
                    <a:pt x="17058" y="0"/>
                    <a:pt x="0" y="17058"/>
                    <a:pt x="0" y="38100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8239125" y="2305050"/>
              <a:ext cx="209550" cy="85725"/>
            </a:xfrm>
            <a:custGeom>
              <a:avLst/>
              <a:gdLst/>
              <a:ahLst/>
              <a:cxnLst/>
              <a:rect l="l" t="t" r="r" b="b"/>
              <a:pathLst>
                <a:path w="209550" h="85725">
                  <a:moveTo>
                    <a:pt x="0" y="85725"/>
                  </a:moveTo>
                  <a:lnTo>
                    <a:pt x="104775" y="0"/>
                  </a:lnTo>
                  <a:lnTo>
                    <a:pt x="209550" y="85725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343900" y="219075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0"/>
                  </a:moveTo>
                  <a:lnTo>
                    <a:pt x="0" y="11430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28" name="TextBox 28"/>
          <p:cNvSpPr txBox="1"/>
          <p:nvPr/>
        </p:nvSpPr>
        <p:spPr>
          <a:xfrm>
            <a:off x="8769858" y="2122170"/>
            <a:ext cx="172059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流程与关系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106156" y="2720340"/>
            <a:ext cx="219913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可拆解的节点和连接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108442" y="3130868"/>
            <a:ext cx="167712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NATIVE RELATIONS</a:t>
            </a:r>
          </a:p>
        </p:txBody>
      </p:sp>
      <p:sp>
        <p:nvSpPr>
          <p:cNvPr id="31" name="Rectangle 31"/>
          <p:cNvSpPr/>
          <p:nvPr/>
        </p:nvSpPr>
        <p:spPr>
          <a:xfrm>
            <a:off x="4267200" y="3790950"/>
            <a:ext cx="2171700" cy="1885950"/>
          </a:xfrm>
          <a:prstGeom prst="roundRect">
            <a:avLst>
              <a:gd name="adj" fmla="val 4040"/>
            </a:avLst>
          </a:prstGeom>
          <a:solidFill>
            <a:srgbClr val="10243B"/>
          </a:solidFill>
          <a:ln w="19050">
            <a:solidFill>
              <a:srgbClr val="33D1FF"/>
            </a:solidFill>
          </a:ln>
        </p:spPr>
      </p:sp>
      <p:grpSp>
        <p:nvGrpSpPr>
          <p:cNvPr id="36" name="Group 36"/>
          <p:cNvGrpSpPr/>
          <p:nvPr/>
        </p:nvGrpSpPr>
        <p:grpSpPr>
          <a:xfrm>
            <a:off x="4583112" y="4071937"/>
            <a:ext cx="244475" cy="314324"/>
            <a:chOff x="4583112" y="4071937"/>
            <a:chExt cx="244475" cy="314324"/>
          </a:xfrm>
        </p:grpSpPr>
        <p:sp>
          <p:nvSpPr>
            <p:cNvPr id="32" name="Freeform 32"/>
            <p:cNvSpPr/>
            <p:nvPr/>
          </p:nvSpPr>
          <p:spPr>
            <a:xfrm>
              <a:off x="4583112" y="4071937"/>
              <a:ext cx="244475" cy="314324"/>
            </a:xfrm>
            <a:custGeom>
              <a:avLst/>
              <a:gdLst/>
              <a:ahLst/>
              <a:cxnLst/>
              <a:rect l="l" t="t" r="r" b="b"/>
              <a:pathLst>
                <a:path w="244475" h="314324">
                  <a:moveTo>
                    <a:pt x="0" y="34925"/>
                  </a:moveTo>
                  <a:cubicBezTo>
                    <a:pt x="0" y="15636"/>
                    <a:pt x="15636" y="0"/>
                    <a:pt x="34925" y="0"/>
                  </a:cubicBezTo>
                  <a:lnTo>
                    <a:pt x="209550" y="0"/>
                  </a:lnTo>
                  <a:cubicBezTo>
                    <a:pt x="228838" y="0"/>
                    <a:pt x="244475" y="15636"/>
                    <a:pt x="244475" y="34925"/>
                  </a:cubicBezTo>
                  <a:lnTo>
                    <a:pt x="244475" y="279399"/>
                  </a:lnTo>
                  <a:cubicBezTo>
                    <a:pt x="244475" y="298688"/>
                    <a:pt x="228838" y="314324"/>
                    <a:pt x="209550" y="314324"/>
                  </a:cubicBezTo>
                  <a:lnTo>
                    <a:pt x="34925" y="314324"/>
                  </a:lnTo>
                  <a:cubicBezTo>
                    <a:pt x="15636" y="314324"/>
                    <a:pt x="0" y="298688"/>
                    <a:pt x="0" y="279399"/>
                  </a:cubicBezTo>
                  <a:lnTo>
                    <a:pt x="0" y="34925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4652962" y="4141787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4652962" y="4211637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4652962" y="4281487"/>
              <a:ext cx="69850" cy="9525"/>
            </a:xfrm>
            <a:custGeom>
              <a:avLst/>
              <a:gdLst/>
              <a:ahLst/>
              <a:cxnLst/>
              <a:rect l="l" t="t" r="r" b="b"/>
              <a:pathLst>
                <a:path w="69850" h="9525">
                  <a:moveTo>
                    <a:pt x="0" y="0"/>
                  </a:moveTo>
                  <a:lnTo>
                    <a:pt x="69850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37" name="TextBox 37"/>
          <p:cNvSpPr txBox="1"/>
          <p:nvPr/>
        </p:nvSpPr>
        <p:spPr>
          <a:xfrm>
            <a:off x="4486656" y="4663440"/>
            <a:ext cx="103601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逐页备注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488942" y="5093018"/>
            <a:ext cx="126770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AFC2D9"/>
                </a:solidFill>
                <a:latin typeface="Arial"/>
                <a:ea typeface="Arial"/>
                <a:cs typeface="Arial"/>
              </a:rPr>
              <a:t>speaker notes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667500" y="3790950"/>
            <a:ext cx="2171700" cy="1885950"/>
          </a:xfrm>
          <a:prstGeom prst="roundRect">
            <a:avLst>
              <a:gd name="adj" fmla="val 4040"/>
            </a:avLst>
          </a:prstGeom>
          <a:solidFill>
            <a:srgbClr val="10243B"/>
          </a:solidFill>
          <a:ln w="19050">
            <a:solidFill>
              <a:srgbClr val="FFB347"/>
            </a:solidFill>
          </a:ln>
        </p:spPr>
      </p:sp>
      <p:grpSp>
        <p:nvGrpSpPr>
          <p:cNvPr id="45" name="Group 45"/>
          <p:cNvGrpSpPr/>
          <p:nvPr/>
        </p:nvGrpSpPr>
        <p:grpSpPr>
          <a:xfrm>
            <a:off x="6948487" y="4089400"/>
            <a:ext cx="314324" cy="288924"/>
            <a:chOff x="6948487" y="4089400"/>
            <a:chExt cx="314324" cy="288924"/>
          </a:xfrm>
        </p:grpSpPr>
        <p:sp>
          <p:nvSpPr>
            <p:cNvPr id="40" name="Freeform 40"/>
            <p:cNvSpPr/>
            <p:nvPr/>
          </p:nvSpPr>
          <p:spPr>
            <a:xfrm>
              <a:off x="6948487" y="4089400"/>
              <a:ext cx="314324" cy="9525"/>
            </a:xfrm>
            <a:custGeom>
              <a:avLst/>
              <a:gdLst/>
              <a:ahLst/>
              <a:cxnLst/>
              <a:rect l="l" t="t" r="r" b="b"/>
              <a:pathLst>
                <a:path w="314324" h="9525">
                  <a:moveTo>
                    <a:pt x="0" y="0"/>
                  </a:moveTo>
                  <a:lnTo>
                    <a:pt x="314324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6965950" y="4089400"/>
              <a:ext cx="279399" cy="209550"/>
            </a:xfrm>
            <a:custGeom>
              <a:avLst/>
              <a:gdLst/>
              <a:ahLst/>
              <a:cxnLst/>
              <a:rect l="l" t="t" r="r" b="b"/>
              <a:pathLst>
                <a:path w="279399" h="209550">
                  <a:moveTo>
                    <a:pt x="0" y="0"/>
                  </a:moveTo>
                  <a:lnTo>
                    <a:pt x="0" y="174625"/>
                  </a:lnTo>
                  <a:cubicBezTo>
                    <a:pt x="0" y="193913"/>
                    <a:pt x="15636" y="209550"/>
                    <a:pt x="34925" y="209550"/>
                  </a:cubicBezTo>
                  <a:lnTo>
                    <a:pt x="244475" y="209550"/>
                  </a:lnTo>
                  <a:cubicBezTo>
                    <a:pt x="263763" y="209550"/>
                    <a:pt x="279399" y="193913"/>
                    <a:pt x="279399" y="174625"/>
                  </a:cubicBezTo>
                  <a:lnTo>
                    <a:pt x="279399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105650" y="4298949"/>
              <a:ext cx="9525" cy="69850"/>
            </a:xfrm>
            <a:custGeom>
              <a:avLst/>
              <a:gdLst/>
              <a:ahLst/>
              <a:cxnLst/>
              <a:rect l="l" t="t" r="r" b="b"/>
              <a:pathLst>
                <a:path w="9525" h="69850">
                  <a:moveTo>
                    <a:pt x="0" y="0"/>
                  </a:moveTo>
                  <a:lnTo>
                    <a:pt x="0" y="6985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7053262" y="4368799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7035800" y="4159250"/>
              <a:ext cx="139700" cy="69850"/>
            </a:xfrm>
            <a:custGeom>
              <a:avLst/>
              <a:gdLst/>
              <a:ahLst/>
              <a:cxnLst/>
              <a:rect l="l" t="t" r="r" b="b"/>
              <a:pathLst>
                <a:path w="139700" h="69850">
                  <a:moveTo>
                    <a:pt x="0" y="69850"/>
                  </a:moveTo>
                  <a:lnTo>
                    <a:pt x="52387" y="17462"/>
                  </a:lnTo>
                  <a:lnTo>
                    <a:pt x="87312" y="52387"/>
                  </a:lnTo>
                  <a:lnTo>
                    <a:pt x="1397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46" name="TextBox 46"/>
          <p:cNvSpPr txBox="1"/>
          <p:nvPr/>
        </p:nvSpPr>
        <p:spPr>
          <a:xfrm>
            <a:off x="6886956" y="4663440"/>
            <a:ext cx="103601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页面转场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889242" y="5093018"/>
            <a:ext cx="138225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AFC2D9"/>
                </a:solidFill>
                <a:latin typeface="Arial"/>
                <a:ea typeface="Arial"/>
                <a:cs typeface="Arial"/>
              </a:rPr>
              <a:t>Fade transition</a:t>
            </a:r>
          </a:p>
        </p:txBody>
      </p:sp>
      <p:sp>
        <p:nvSpPr>
          <p:cNvPr id="48" name="Rectangle 48"/>
          <p:cNvSpPr/>
          <p:nvPr/>
        </p:nvSpPr>
        <p:spPr>
          <a:xfrm>
            <a:off x="9067800" y="3790950"/>
            <a:ext cx="2171700" cy="1885950"/>
          </a:xfrm>
          <a:prstGeom prst="roundRect">
            <a:avLst>
              <a:gd name="adj" fmla="val 4040"/>
            </a:avLst>
          </a:prstGeom>
          <a:solidFill>
            <a:srgbClr val="10243B"/>
          </a:solidFill>
          <a:ln w="19050">
            <a:solidFill>
              <a:srgbClr val="7C83FD"/>
            </a:solidFill>
          </a:ln>
        </p:spPr>
      </p:sp>
      <p:grpSp>
        <p:nvGrpSpPr>
          <p:cNvPr id="54" name="Group 54"/>
          <p:cNvGrpSpPr/>
          <p:nvPr/>
        </p:nvGrpSpPr>
        <p:grpSpPr>
          <a:xfrm>
            <a:off x="9383712" y="4071937"/>
            <a:ext cx="244475" cy="314324"/>
            <a:chOff x="9383712" y="4071937"/>
            <a:chExt cx="244475" cy="314324"/>
          </a:xfrm>
        </p:grpSpPr>
        <p:sp>
          <p:nvSpPr>
            <p:cNvPr id="49" name="Freeform 49"/>
            <p:cNvSpPr/>
            <p:nvPr/>
          </p:nvSpPr>
          <p:spPr>
            <a:xfrm>
              <a:off x="9540875" y="4071937"/>
              <a:ext cx="87312" cy="87312"/>
            </a:xfrm>
            <a:custGeom>
              <a:avLst/>
              <a:gdLst/>
              <a:ahLst/>
              <a:cxnLst/>
              <a:rect l="l" t="t" r="r" b="b"/>
              <a:pathLst>
                <a:path w="87312" h="87312">
                  <a:moveTo>
                    <a:pt x="0" y="0"/>
                  </a:moveTo>
                  <a:lnTo>
                    <a:pt x="0" y="69850"/>
                  </a:lnTo>
                  <a:cubicBezTo>
                    <a:pt x="0" y="79494"/>
                    <a:pt x="7818" y="87312"/>
                    <a:pt x="17462" y="87312"/>
                  </a:cubicBezTo>
                  <a:lnTo>
                    <a:pt x="87312" y="87312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9383712" y="4071937"/>
              <a:ext cx="244475" cy="314324"/>
            </a:xfrm>
            <a:custGeom>
              <a:avLst/>
              <a:gdLst/>
              <a:ahLst/>
              <a:cxnLst/>
              <a:rect l="l" t="t" r="r" b="b"/>
              <a:pathLst>
                <a:path w="244475" h="314324">
                  <a:moveTo>
                    <a:pt x="209550" y="314324"/>
                  </a:moveTo>
                  <a:lnTo>
                    <a:pt x="34925" y="314324"/>
                  </a:lnTo>
                  <a:cubicBezTo>
                    <a:pt x="15636" y="314324"/>
                    <a:pt x="0" y="298688"/>
                    <a:pt x="0" y="279399"/>
                  </a:cubicBezTo>
                  <a:lnTo>
                    <a:pt x="0" y="34925"/>
                  </a:lnTo>
                  <a:cubicBezTo>
                    <a:pt x="0" y="15636"/>
                    <a:pt x="15636" y="0"/>
                    <a:pt x="34925" y="0"/>
                  </a:cubicBezTo>
                  <a:lnTo>
                    <a:pt x="157162" y="0"/>
                  </a:lnTo>
                  <a:lnTo>
                    <a:pt x="244475" y="87312"/>
                  </a:lnTo>
                  <a:lnTo>
                    <a:pt x="244475" y="279399"/>
                  </a:lnTo>
                  <a:cubicBezTo>
                    <a:pt x="244475" y="298688"/>
                    <a:pt x="228838" y="314324"/>
                    <a:pt x="209550" y="314324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9453562" y="4176712"/>
              <a:ext cx="17462" cy="9525"/>
            </a:xfrm>
            <a:custGeom>
              <a:avLst/>
              <a:gdLst/>
              <a:ahLst/>
              <a:cxnLst/>
              <a:rect l="l" t="t" r="r" b="b"/>
              <a:pathLst>
                <a:path w="17462" h="9525">
                  <a:moveTo>
                    <a:pt x="0" y="0"/>
                  </a:moveTo>
                  <a:lnTo>
                    <a:pt x="17462" y="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52" name="Freeform 52"/>
            <p:cNvSpPr/>
            <p:nvPr/>
          </p:nvSpPr>
          <p:spPr>
            <a:xfrm>
              <a:off x="9453562" y="4246562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9453562" y="4316412"/>
              <a:ext cx="104775" cy="9525"/>
            </a:xfrm>
            <a:custGeom>
              <a:avLst/>
              <a:gdLst/>
              <a:ahLst/>
              <a:cxnLst/>
              <a:rect l="l" t="t" r="r" b="b"/>
              <a:pathLst>
                <a:path w="104775" h="9525">
                  <a:moveTo>
                    <a:pt x="0" y="0"/>
                  </a:moveTo>
                  <a:lnTo>
                    <a:pt x="104775" y="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55" name="TextBox 55"/>
          <p:cNvSpPr txBox="1"/>
          <p:nvPr/>
        </p:nvSpPr>
        <p:spPr>
          <a:xfrm>
            <a:off x="9287256" y="4663440"/>
            <a:ext cx="126836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OOXML 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9289542" y="5093018"/>
            <a:ext cx="110413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独立检查结构</a:t>
            </a:r>
          </a:p>
        </p:txBody>
      </p:sp>
      <p:sp>
        <p:nvSpPr>
          <p:cNvPr id="57" name="Rectangle 57"/>
          <p:cNvSpPr/>
          <p:nvPr/>
        </p:nvSpPr>
        <p:spPr>
          <a:xfrm>
            <a:off x="4267200" y="5962650"/>
            <a:ext cx="6972300" cy="323850"/>
          </a:xfrm>
          <a:prstGeom prst="roundRect">
            <a:avLst>
              <a:gd name="adj" fmla="val 23529"/>
            </a:avLst>
          </a:prstGeom>
          <a:solidFill>
            <a:srgbClr val="08111F"/>
          </a:solidFill>
          <a:ln w="19050">
            <a:solidFill>
              <a:srgbClr val="23415E"/>
            </a:solidFill>
          </a:ln>
        </p:spPr>
      </p:sp>
      <p:sp>
        <p:nvSpPr>
          <p:cNvPr id="58" name="TextBox 58"/>
          <p:cNvSpPr txBox="1"/>
          <p:nvPr/>
        </p:nvSpPr>
        <p:spPr>
          <a:xfrm>
            <a:off x="4903577" y="6035992"/>
            <a:ext cx="569954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AFC2D9"/>
                </a:solidFill>
                <a:latin typeface="Consolas"/>
                <a:ea typeface="Consolas"/>
                <a:cs typeface="Consolas"/>
              </a:rPr>
              <a:t>TEXT · SHAPES · RELATIONS · NOTES · TRANSITIONS · OOXML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7C83FD">
                  <a:alpha val="14000"/>
                </a:srgbClr>
              </a:gs>
              <a:gs pos="100000">
                <a:srgbClr val="7C83FD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564642" y="482918"/>
            <a:ext cx="253371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spc="225" dirty="0">
                <a:solidFill>
                  <a:srgbClr val="33D1FF"/>
                </a:solidFill>
                <a:latin typeface="Consolas"/>
                <a:ea typeface="Consolas"/>
                <a:cs typeface="Consolas"/>
              </a:rPr>
              <a:t>SAME SUPPORT LEVEL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52450" y="727710"/>
            <a:ext cx="5974842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双语是同一条正式路径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974382" y="521018"/>
            <a:ext cx="65297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05 / 05</a:t>
            </a:r>
          </a:p>
        </p:txBody>
      </p:sp>
      <p:sp>
        <p:nvSpPr>
          <p:cNvPr id="6" name="Freeform 6"/>
          <p:cNvSpPr/>
          <p:nvPr/>
        </p:nvSpPr>
        <p:spPr>
          <a:xfrm>
            <a:off x="571500" y="146685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19050">
            <a:solidFill>
              <a:srgbClr val="23415E"/>
            </a:solidFill>
          </a:ln>
        </p:spPr>
      </p:sp>
      <p:sp>
        <p:nvSpPr>
          <p:cNvPr id="7" name="Ellipse 7"/>
          <p:cNvSpPr/>
          <p:nvPr/>
        </p:nvSpPr>
        <p:spPr>
          <a:xfrm>
            <a:off x="2857500" y="1581150"/>
            <a:ext cx="4000500" cy="4000500"/>
          </a:xfrm>
          <a:prstGeom prst="ellipse">
            <a:avLst/>
          </a:prstGeom>
          <a:solidFill>
            <a:srgbClr val="33D1FF">
              <a:alpha val="10000"/>
            </a:srgbClr>
          </a:solidFill>
          <a:ln w="28575">
            <a:solidFill>
              <a:srgbClr val="33D1FF"/>
            </a:solidFill>
          </a:ln>
        </p:spPr>
      </p:sp>
      <p:sp>
        <p:nvSpPr>
          <p:cNvPr id="8" name="Ellipse 8"/>
          <p:cNvSpPr/>
          <p:nvPr/>
        </p:nvSpPr>
        <p:spPr>
          <a:xfrm>
            <a:off x="5334000" y="1581150"/>
            <a:ext cx="4000500" cy="4000500"/>
          </a:xfrm>
          <a:prstGeom prst="ellipse">
            <a:avLst/>
          </a:prstGeom>
          <a:solidFill>
            <a:srgbClr val="7C83FD">
              <a:alpha val="12000"/>
            </a:srgbClr>
          </a:solidFill>
          <a:ln w="28575">
            <a:solidFill>
              <a:srgbClr val="7C83FD"/>
            </a:solidFill>
          </a:ln>
        </p:spPr>
      </p:sp>
      <p:grpSp>
        <p:nvGrpSpPr>
          <p:cNvPr id="15" name="Group 15"/>
          <p:cNvGrpSpPr/>
          <p:nvPr/>
        </p:nvGrpSpPr>
        <p:grpSpPr>
          <a:xfrm>
            <a:off x="3765550" y="2257425"/>
            <a:ext cx="355600" cy="377825"/>
            <a:chOff x="3765550" y="2257425"/>
            <a:chExt cx="355600" cy="377825"/>
          </a:xfrm>
        </p:grpSpPr>
        <p:sp>
          <p:nvSpPr>
            <p:cNvPr id="9" name="Freeform 9"/>
            <p:cNvSpPr/>
            <p:nvPr/>
          </p:nvSpPr>
          <p:spPr>
            <a:xfrm>
              <a:off x="3765550" y="2332345"/>
              <a:ext cx="111125" cy="147329"/>
            </a:xfrm>
            <a:custGeom>
              <a:avLst/>
              <a:gdLst/>
              <a:ahLst/>
              <a:cxnLst/>
              <a:rect l="l" t="t" r="r" b="b"/>
              <a:pathLst>
                <a:path w="111125" h="147329">
                  <a:moveTo>
                    <a:pt x="111125" y="0"/>
                  </a:moveTo>
                  <a:cubicBezTo>
                    <a:pt x="111125" y="98190"/>
                    <a:pt x="61363" y="147329"/>
                    <a:pt x="0" y="147329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765550" y="2332345"/>
              <a:ext cx="155575" cy="9525"/>
            </a:xfrm>
            <a:custGeom>
              <a:avLst/>
              <a:gdLst/>
              <a:ahLst/>
              <a:cxnLst/>
              <a:rect l="l" t="t" r="r" b="b"/>
              <a:pathLst>
                <a:path w="155575" h="9525">
                  <a:moveTo>
                    <a:pt x="0" y="0"/>
                  </a:moveTo>
                  <a:lnTo>
                    <a:pt x="155575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787775" y="2390775"/>
              <a:ext cx="133350" cy="88900"/>
            </a:xfrm>
            <a:custGeom>
              <a:avLst/>
              <a:gdLst/>
              <a:ahLst/>
              <a:cxnLst/>
              <a:rect l="l" t="t" r="r" b="b"/>
              <a:pathLst>
                <a:path w="133350" h="88900">
                  <a:moveTo>
                    <a:pt x="0" y="0"/>
                  </a:moveTo>
                  <a:cubicBezTo>
                    <a:pt x="0" y="47650"/>
                    <a:pt x="50051" y="86855"/>
                    <a:pt x="133350" y="88900"/>
                  </a:cubicBez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943350" y="2435225"/>
              <a:ext cx="177800" cy="200025"/>
            </a:xfrm>
            <a:custGeom>
              <a:avLst/>
              <a:gdLst/>
              <a:ahLst/>
              <a:cxnLst/>
              <a:rect l="l" t="t" r="r" b="b"/>
              <a:pathLst>
                <a:path w="177800" h="200025">
                  <a:moveTo>
                    <a:pt x="0" y="200025"/>
                  </a:moveTo>
                  <a:lnTo>
                    <a:pt x="88900" y="0"/>
                  </a:lnTo>
                  <a:lnTo>
                    <a:pt x="177800" y="200025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3963352" y="2590799"/>
              <a:ext cx="137795" cy="9525"/>
            </a:xfrm>
            <a:custGeom>
              <a:avLst/>
              <a:gdLst/>
              <a:ahLst/>
              <a:cxnLst/>
              <a:rect l="l" t="t" r="r" b="b"/>
              <a:pathLst>
                <a:path w="137795" h="9525">
                  <a:moveTo>
                    <a:pt x="137795" y="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825424" y="2257425"/>
              <a:ext cx="17624" cy="12935"/>
            </a:xfrm>
            <a:custGeom>
              <a:avLst/>
              <a:gdLst/>
              <a:ahLst/>
              <a:cxnLst/>
              <a:rect l="l" t="t" r="r" b="b"/>
              <a:pathLst>
                <a:path w="17624" h="12935">
                  <a:moveTo>
                    <a:pt x="0" y="0"/>
                  </a:moveTo>
                  <a:lnTo>
                    <a:pt x="17624" y="12935"/>
                  </a:lnTo>
                </a:path>
              </a:pathLst>
            </a:custGeom>
            <a:noFill/>
            <a:ln w="19050">
              <a:solidFill>
                <a:srgbClr val="33D1FF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3482092" y="2841308"/>
            <a:ext cx="922515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15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中文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449574" y="3406140"/>
            <a:ext cx="98755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中文文案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207258" y="3768090"/>
            <a:ext cx="1472184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AFC2D9"/>
                </a:solidFill>
                <a:latin typeface="Arial"/>
                <a:ea typeface="Microsoft YaHei"/>
                <a:cs typeface="Arial"/>
              </a:rPr>
              <a:t>中文字体策略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8070850" y="2257425"/>
            <a:ext cx="355600" cy="377825"/>
            <a:chOff x="8070850" y="2257425"/>
            <a:chExt cx="355600" cy="377825"/>
          </a:xfrm>
        </p:grpSpPr>
        <p:sp>
          <p:nvSpPr>
            <p:cNvPr id="19" name="Freeform 19"/>
            <p:cNvSpPr/>
            <p:nvPr/>
          </p:nvSpPr>
          <p:spPr>
            <a:xfrm>
              <a:off x="8070850" y="2332345"/>
              <a:ext cx="111125" cy="147329"/>
            </a:xfrm>
            <a:custGeom>
              <a:avLst/>
              <a:gdLst/>
              <a:ahLst/>
              <a:cxnLst/>
              <a:rect l="l" t="t" r="r" b="b"/>
              <a:pathLst>
                <a:path w="111125" h="147329">
                  <a:moveTo>
                    <a:pt x="111125" y="0"/>
                  </a:moveTo>
                  <a:cubicBezTo>
                    <a:pt x="111125" y="98190"/>
                    <a:pt x="61363" y="147329"/>
                    <a:pt x="0" y="147329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070850" y="2332345"/>
              <a:ext cx="155575" cy="9525"/>
            </a:xfrm>
            <a:custGeom>
              <a:avLst/>
              <a:gdLst/>
              <a:ahLst/>
              <a:cxnLst/>
              <a:rect l="l" t="t" r="r" b="b"/>
              <a:pathLst>
                <a:path w="155575" h="9525">
                  <a:moveTo>
                    <a:pt x="0" y="0"/>
                  </a:moveTo>
                  <a:lnTo>
                    <a:pt x="155575" y="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8093075" y="2390775"/>
              <a:ext cx="133350" cy="88900"/>
            </a:xfrm>
            <a:custGeom>
              <a:avLst/>
              <a:gdLst/>
              <a:ahLst/>
              <a:cxnLst/>
              <a:rect l="l" t="t" r="r" b="b"/>
              <a:pathLst>
                <a:path w="133350" h="88900">
                  <a:moveTo>
                    <a:pt x="0" y="0"/>
                  </a:moveTo>
                  <a:cubicBezTo>
                    <a:pt x="0" y="47650"/>
                    <a:pt x="50051" y="86855"/>
                    <a:pt x="133350" y="88900"/>
                  </a:cubicBez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248650" y="2435225"/>
              <a:ext cx="177800" cy="200025"/>
            </a:xfrm>
            <a:custGeom>
              <a:avLst/>
              <a:gdLst/>
              <a:ahLst/>
              <a:cxnLst/>
              <a:rect l="l" t="t" r="r" b="b"/>
              <a:pathLst>
                <a:path w="177800" h="200025">
                  <a:moveTo>
                    <a:pt x="0" y="200025"/>
                  </a:moveTo>
                  <a:lnTo>
                    <a:pt x="88900" y="0"/>
                  </a:lnTo>
                  <a:lnTo>
                    <a:pt x="177800" y="200025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8268652" y="2590799"/>
              <a:ext cx="137795" cy="9525"/>
            </a:xfrm>
            <a:custGeom>
              <a:avLst/>
              <a:gdLst/>
              <a:ahLst/>
              <a:cxnLst/>
              <a:rect l="l" t="t" r="r" b="b"/>
              <a:pathLst>
                <a:path w="137795" h="9525">
                  <a:moveTo>
                    <a:pt x="137795" y="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8130724" y="2257425"/>
              <a:ext cx="17624" cy="12935"/>
            </a:xfrm>
            <a:custGeom>
              <a:avLst/>
              <a:gdLst/>
              <a:ahLst/>
              <a:cxnLst/>
              <a:rect l="l" t="t" r="r" b="b"/>
              <a:pathLst>
                <a:path w="17624" h="12935">
                  <a:moveTo>
                    <a:pt x="0" y="0"/>
                  </a:moveTo>
                  <a:lnTo>
                    <a:pt x="17624" y="12935"/>
                  </a:lnTo>
                </a:path>
              </a:pathLst>
            </a:custGeom>
            <a:noFill/>
            <a:ln w="19050">
              <a:solidFill>
                <a:srgbClr val="7C83FD"/>
              </a:solidFill>
            </a:ln>
          </p:spPr>
        </p:sp>
      </p:grpSp>
      <p:sp>
        <p:nvSpPr>
          <p:cNvPr id="26" name="TextBox 26"/>
          <p:cNvSpPr txBox="1"/>
          <p:nvPr/>
        </p:nvSpPr>
        <p:spPr>
          <a:xfrm>
            <a:off x="7385822" y="2841308"/>
            <a:ext cx="1725656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150" b="1" dirty="0">
                <a:solidFill>
                  <a:srgbClr val="EAF2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27084" y="3406140"/>
            <a:ext cx="1443131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AFC2D9"/>
                </a:solidFill>
                <a:latin typeface="Arial"/>
                <a:ea typeface="Arial"/>
                <a:cs typeface="Arial"/>
              </a:rPr>
              <a:t>English copy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230100" y="3768090"/>
            <a:ext cx="203710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AFC2D9"/>
                </a:solidFill>
                <a:latin typeface="Arial"/>
                <a:ea typeface="Arial"/>
                <a:cs typeface="Arial"/>
              </a:rPr>
              <a:t>Latin typography</a:t>
            </a:r>
          </a:p>
        </p:txBody>
      </p:sp>
      <p:sp>
        <p:nvSpPr>
          <p:cNvPr id="29" name="Rectangle 29"/>
          <p:cNvSpPr/>
          <p:nvPr/>
        </p:nvSpPr>
        <p:spPr>
          <a:xfrm>
            <a:off x="5105400" y="2476500"/>
            <a:ext cx="1981200" cy="2209800"/>
          </a:xfrm>
          <a:prstGeom prst="roundRect">
            <a:avLst>
              <a:gd name="adj" fmla="val 3846"/>
            </a:avLst>
          </a:prstGeom>
          <a:solidFill>
            <a:srgbClr val="10243B"/>
          </a:solidFill>
          <a:ln w="28575">
            <a:solidFill>
              <a:srgbClr val="FFB347"/>
            </a:solidFill>
          </a:ln>
        </p:spPr>
      </p:sp>
      <p:grpSp>
        <p:nvGrpSpPr>
          <p:cNvPr id="32" name="Group 32"/>
          <p:cNvGrpSpPr/>
          <p:nvPr/>
        </p:nvGrpSpPr>
        <p:grpSpPr>
          <a:xfrm>
            <a:off x="5924550" y="2762250"/>
            <a:ext cx="342900" cy="342900"/>
            <a:chOff x="5924550" y="2762250"/>
            <a:chExt cx="342900" cy="342900"/>
          </a:xfrm>
        </p:grpSpPr>
        <p:sp>
          <p:nvSpPr>
            <p:cNvPr id="30" name="Freeform 30"/>
            <p:cNvSpPr/>
            <p:nvPr/>
          </p:nvSpPr>
          <p:spPr>
            <a:xfrm>
              <a:off x="5924550" y="2762250"/>
              <a:ext cx="342900" cy="342900"/>
            </a:xfrm>
            <a:custGeom>
              <a:avLst/>
              <a:gdLst/>
              <a:ahLst/>
              <a:cxnLst/>
              <a:rect l="l" t="t" r="r" b="b"/>
              <a:pathLst>
                <a:path w="342900" h="342900">
                  <a:moveTo>
                    <a:pt x="0" y="171450"/>
                  </a:moveTo>
                  <a:cubicBezTo>
                    <a:pt x="0" y="266139"/>
                    <a:pt x="76761" y="342900"/>
                    <a:pt x="171450" y="342900"/>
                  </a:cubicBezTo>
                  <a:cubicBezTo>
                    <a:pt x="266139" y="342900"/>
                    <a:pt x="342900" y="266139"/>
                    <a:pt x="342900" y="171450"/>
                  </a:cubicBezTo>
                  <a:cubicBezTo>
                    <a:pt x="342900" y="76761"/>
                    <a:pt x="266139" y="0"/>
                    <a:pt x="171450" y="0"/>
                  </a:cubicBezTo>
                  <a:cubicBezTo>
                    <a:pt x="76761" y="0"/>
                    <a:pt x="0" y="76761"/>
                    <a:pt x="0" y="171450"/>
                  </a:cubicBez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038850" y="2895600"/>
              <a:ext cx="114300" cy="76200"/>
            </a:xfrm>
            <a:custGeom>
              <a:avLst/>
              <a:gdLst/>
              <a:ahLst/>
              <a:cxnLst/>
              <a:rect l="l" t="t" r="r" b="b"/>
              <a:pathLst>
                <a:path w="114300" h="76200">
                  <a:moveTo>
                    <a:pt x="0" y="38100"/>
                  </a:moveTo>
                  <a:lnTo>
                    <a:pt x="38100" y="76200"/>
                  </a:lnTo>
                  <a:lnTo>
                    <a:pt x="114300" y="0"/>
                  </a:lnTo>
                </a:path>
              </a:pathLst>
            </a:custGeom>
            <a:noFill/>
            <a:ln w="19050">
              <a:solidFill>
                <a:srgbClr val="FFB347"/>
              </a:solidFill>
            </a:ln>
          </p:spPr>
        </p:sp>
      </p:grpSp>
      <p:sp>
        <p:nvSpPr>
          <p:cNvPr id="33" name="TextBox 33"/>
          <p:cNvSpPr txBox="1"/>
          <p:nvPr/>
        </p:nvSpPr>
        <p:spPr>
          <a:xfrm>
            <a:off x="5323561" y="3329940"/>
            <a:ext cx="154487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同一语义契约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577992" y="3749040"/>
            <a:ext cx="1036015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33D1FF"/>
                </a:solidFill>
                <a:latin typeface="Arial"/>
                <a:ea typeface="Microsoft YaHei"/>
                <a:cs typeface="Arial"/>
              </a:rPr>
              <a:t>原生导出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602956" y="4168140"/>
            <a:ext cx="98608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7C83FD"/>
                </a:solidFill>
                <a:latin typeface="Arial"/>
                <a:ea typeface="Microsoft YaHei"/>
                <a:cs typeface="Arial"/>
              </a:rPr>
              <a:t>同一 QA</a:t>
            </a:r>
          </a:p>
        </p:txBody>
      </p:sp>
      <p:sp>
        <p:nvSpPr>
          <p:cNvPr id="36" name="Freeform 36"/>
          <p:cNvSpPr/>
          <p:nvPr/>
        </p:nvSpPr>
        <p:spPr>
          <a:xfrm>
            <a:off x="2647950" y="5657850"/>
            <a:ext cx="6896100" cy="9525"/>
          </a:xfrm>
          <a:custGeom>
            <a:avLst/>
            <a:gdLst/>
            <a:ahLst/>
            <a:cxnLst/>
            <a:rect l="l" t="t" r="r" b="b"/>
            <a:pathLst>
              <a:path w="6896100" h="9525">
                <a:moveTo>
                  <a:pt x="0" y="0"/>
                </a:moveTo>
                <a:lnTo>
                  <a:pt x="6896100" y="0"/>
                </a:lnTo>
              </a:path>
            </a:pathLst>
          </a:custGeom>
          <a:noFill/>
          <a:ln w="38100">
            <a:solidFill>
              <a:srgbClr val="FFB347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495074" y="5855970"/>
            <a:ext cx="92018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rgbClr val="EAF2FF"/>
                </a:solidFill>
                <a:latin typeface="Arial"/>
                <a:ea typeface="Microsoft YaHei"/>
                <a:cs typeface="Arial"/>
              </a:rPr>
              <a:t>一个语义契约，两种语言，两份真正可编辑的 PowerPoint。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13380" y="6350318"/>
            <a:ext cx="516524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7890AA"/>
                </a:solidFill>
                <a:latin typeface="Consolas"/>
                <a:ea typeface="Consolas"/>
                <a:cs typeface="Consolas"/>
              </a:rPr>
              <a:t>LANGUAGE CHANGES THE COPY — NOT THE SUPPORT LEVEL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2026-07-14T11:50:13Z</dcterms:created>
  <dcterms:modified xsi:type="dcterms:W3CDTF">2026-07-14T11:50:13Z</dcterms:modified>
  <cp:category/>
  <cp:contentStatus/>
</cp:coreProperties>
</file>